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4b61cb6-7453-3edd-a125-96d4987ed840}">
          <p14:sldIdLst>
            <p14:sldId id="256"/>
          </p14:sldIdLst>
        </p14:section>
        <p14:section name="Data" id="{432bd7a6-7f86-eb8c-4d35-5226f6f04fb1}">
          <p14:sldIdLst>
            <p14:sldId id="257"/>
            <p14:sldId id="258"/>
          </p14:sldIdLst>
        </p14:section>
        <p14:section name="Model" id="{4ace5ebb-f341-42e6-6c78-2fa2d65bc336}">
          <p14:sldIdLst>
            <p14:sldId id="259"/>
            <p14:sldId id="260"/>
          </p14:sldIdLst>
        </p14:section>
        <p14:section name="Results" id="{8b15bb6c-3174-ea3d-1a49-9b618ecf17fe}">
          <p14:sldIdLst>
            <p14:sldId id="261"/>
            <p14:sldId id="262"/>
          </p14:sldIdLst>
        </p14:section>
        <p14:section name="Demo" id="{5a3c3be1-17f6-5624-3380-c3d220f1b703}">
          <p14:sldIdLst>
            <p14:sldId id="263"/>
          </p14:sldIdLst>
        </p14:section>
        <p14:section name="Conclusion" id="{10e83964-7e01-db90-a51a-8715d85e6cf8}">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02124"/>
                </a:solidFill>
                <a:latin typeface="+mn-lt"/>
              </a:defRPr>
            </a:pPr>
            <a:r>
              <a:rPr sz="1400" b="0" i="0" u="none" strike="noStrike">
                <a:solidFill>
                  <a:srgbClr val="202124"/>
                </a:solidFill>
                <a:latin typeface="+mn-lt"/>
              </a:rPr>
              <a:t>Validation set, threshold 0.5</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20BFE0"/>
            </a:solidFill>
            <a:effectLst/>
          </c:spPr>
          <c:invertIfNegative val="0"/>
          <c:dLbls>
            <c:numFmt formatCode="0.00" sourceLinked="0"/>
            <c:txPr>
              <a:bodyPr/>
              <a:lstStyle/>
              <a:p>
                <a:pPr>
                  <a:defRPr b="0" i="0" strike="noStrike" sz="900" u="none">
                    <a:solidFill>
                      <a:srgbClr val="5F6368"/>
                    </a:solidFill>
                    <a:latin typeface="+mn-lt"/>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Decision Tree</c:v>
                  </c:pt>
                  <c:pt idx="2">
                    <c:v>Random Forest</c:v>
                  </c:pt>
                  <c:pt idx="3">
                    <c:v>XGBoost</c:v>
                  </c:pt>
                </c:lvl>
              </c:multiLvlStrCache>
            </c:multiLvlStrRef>
          </c:cat>
          <c:val>
            <c:numRef>
              <c:f>Sheet1!$B$2:$B$5</c:f>
              <c:numCache>
                <c:formatCode>General</c:formatCode>
                <c:ptCount val="4"/>
                <c:pt idx="0">
                  <c:v>0.04</c:v>
                </c:pt>
                <c:pt idx="1">
                  <c:v>0.17</c:v>
                </c:pt>
                <c:pt idx="2">
                  <c:v>0.38</c:v>
                </c:pt>
                <c:pt idx="3">
                  <c:v>0.58</c:v>
                </c:pt>
              </c:numCache>
            </c:numRef>
          </c:val>
        </c:ser>
        <c:ser>
          <c:idx val="1"/>
          <c:order val="1"/>
          <c:tx>
            <c:strRef>
              <c:f>Sheet1!$C$1</c:f>
              <c:strCache>
                <c:ptCount val="1"/>
                <c:pt idx="0">
                  <c:v>Recall</c:v>
                </c:pt>
              </c:strCache>
            </c:strRef>
          </c:tx>
          <c:spPr>
            <a:solidFill>
              <a:srgbClr val="164B78"/>
            </a:solidFill>
            <a:effectLst/>
          </c:spPr>
          <c:invertIfNegative val="0"/>
          <c:dLbls>
            <c:numFmt formatCode="0.00" sourceLinked="0"/>
            <c:txPr>
              <a:bodyPr/>
              <a:lstStyle/>
              <a:p>
                <a:pPr>
                  <a:defRPr b="0" i="0" strike="noStrike" sz="900" u="none">
                    <a:solidFill>
                      <a:srgbClr val="5F6368"/>
                    </a:solidFill>
                    <a:latin typeface="+mn-lt"/>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Decision Tree</c:v>
                  </c:pt>
                  <c:pt idx="2">
                    <c:v>Random Forest</c:v>
                  </c:pt>
                  <c:pt idx="3">
                    <c:v>XGBoost</c:v>
                  </c:pt>
                </c:lvl>
              </c:multiLvlStrCache>
            </c:multiLvlStrRef>
          </c:cat>
          <c:val>
            <c:numRef>
              <c:f>Sheet1!$C$2:$C$5</c:f>
              <c:numCache>
                <c:formatCode>General</c:formatCode>
                <c:ptCount val="4"/>
                <c:pt idx="0">
                  <c:v>0.93</c:v>
                </c:pt>
                <c:pt idx="1">
                  <c:v>0.98</c:v>
                </c:pt>
                <c:pt idx="2">
                  <c:v>0.95</c:v>
                </c:pt>
                <c:pt idx="3">
                  <c:v>0.96</c:v>
                </c:pt>
              </c:numCache>
            </c:numRef>
          </c:val>
        </c:ser>
        <c:ser>
          <c:idx val="2"/>
          <c:order val="2"/>
          <c:tx>
            <c:strRef>
              <c:f>Sheet1!$D$1</c:f>
              <c:strCache>
                <c:ptCount val="1"/>
                <c:pt idx="0">
                  <c:v>F1 Score</c:v>
                </c:pt>
              </c:strCache>
            </c:strRef>
          </c:tx>
          <c:spPr>
            <a:solidFill>
              <a:srgbClr val="9AC4EC"/>
            </a:solidFill>
            <a:effectLst/>
          </c:spPr>
          <c:invertIfNegative val="0"/>
          <c:dLbls>
            <c:numFmt formatCode="0.00" sourceLinked="0"/>
            <c:txPr>
              <a:bodyPr/>
              <a:lstStyle/>
              <a:p>
                <a:pPr>
                  <a:defRPr b="0" i="0" strike="noStrike" sz="900" u="none">
                    <a:solidFill>
                      <a:srgbClr val="5F6368"/>
                    </a:solidFill>
                    <a:latin typeface="+mn-lt"/>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Decision Tree</c:v>
                  </c:pt>
                  <c:pt idx="2">
                    <c:v>Random Forest</c:v>
                  </c:pt>
                  <c:pt idx="3">
                    <c:v>XGBoost</c:v>
                  </c:pt>
                </c:lvl>
              </c:multiLvlStrCache>
            </c:multiLvlStrRef>
          </c:cat>
          <c:val>
            <c:numRef>
              <c:f>Sheet1!$D$2:$D$5</c:f>
              <c:numCache>
                <c:formatCode>General</c:formatCode>
                <c:ptCount val="4"/>
                <c:pt idx="0">
                  <c:v>0.07</c:v>
                </c:pt>
                <c:pt idx="1">
                  <c:v>0.29</c:v>
                </c:pt>
                <c:pt idx="2">
                  <c:v>0.54</c:v>
                </c:pt>
                <c:pt idx="3">
                  <c:v>0.73</c:v>
                </c:pt>
              </c:numCache>
            </c:numRef>
          </c:val>
        </c:ser>
        <c:ser>
          <c:idx val="3"/>
          <c:order val="3"/>
          <c:tx>
            <c:strRef>
              <c:f>Sheet1!$E$1</c:f>
              <c:strCache>
                <c:ptCount val="1"/>
                <c:pt idx="0">
                  <c:v>PR-AUC</c:v>
                </c:pt>
              </c:strCache>
            </c:strRef>
          </c:tx>
          <c:spPr>
            <a:solidFill>
              <a:srgbClr val="0878D1"/>
            </a:solidFill>
            <a:effectLst/>
          </c:spPr>
          <c:invertIfNegative val="0"/>
          <c:dLbls>
            <c:numFmt formatCode="0.00" sourceLinked="0"/>
            <c:txPr>
              <a:bodyPr/>
              <a:lstStyle/>
              <a:p>
                <a:pPr>
                  <a:defRPr b="0" i="0" strike="noStrike" sz="900" u="none">
                    <a:solidFill>
                      <a:srgbClr val="5F6368"/>
                    </a:solidFill>
                    <a:latin typeface="+mn-lt"/>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Decision Tree</c:v>
                  </c:pt>
                  <c:pt idx="2">
                    <c:v>Random Forest</c:v>
                  </c:pt>
                  <c:pt idx="3">
                    <c:v>XGBoost</c:v>
                  </c:pt>
                </c:lvl>
              </c:multiLvlStrCache>
            </c:multiLvlStrRef>
          </c:cat>
          <c:val>
            <c:numRef>
              <c:f>Sheet1!$E$2:$E$5</c:f>
              <c:numCache>
                <c:formatCode>General</c:formatCode>
                <c:ptCount val="4"/>
                <c:pt idx="0">
                  <c:v>0.25</c:v>
                </c:pt>
                <c:pt idx="1">
                  <c:v>0.51</c:v>
                </c:pt>
                <c:pt idx="2">
                  <c:v>0.88</c:v>
                </c:pt>
                <c:pt idx="3">
                  <c:v>0.95</c:v>
                </c:pt>
              </c:numCache>
            </c:numRef>
          </c:val>
        </c:ser>
        <c:dLbls>
          <c:numFmt formatCode="0.00" sourceLinked="0"/>
          <c:txPr>
            <a:bodyPr/>
            <a:lstStyle/>
            <a:p>
              <a:pPr>
                <a:defRPr b="0" i="0" strike="noStrike" sz="900" u="none">
                  <a:solidFill>
                    <a:srgbClr val="5F6368"/>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36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9ECEF"/>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368"/>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5F636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machine learning system that detects fraudulent credit card transactions, plus an agent-style command line tool that checks a transaction and explains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is only about half a percent of all rows, so the data is highly imbalanced. The test file has over five lakh transactions the model never sees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features are built in train.py. Amount, night time and merchant category turned out to be the most important for the final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models use class weights to handle imbalance. Logistic Regression catches fraud but raises too many false alarms. XGBoost gives the best balance, so it is saved as the final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lives in train.py. The final model is retrained on all training data and evaluated once on the untouched test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scores come from the test file, which the model never saw during training. Cross validation on the training data gives a similar PR-AUC, so the result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is so rare that accuracy hides everything. That is why we judge the model by precision, recall and PR-AUC, and why we tune the threshold instead of using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run uv run cli.py demo to show one safe and one fraud transaction, then uv run cli.py metrics to show the saved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result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chemeClr val="accent4"/>
                </a:solidFill>
              </a:rPr>
              <a:t>Credit Card Fraud Detection Using Machine Learning  ·  23IT440</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1234440"/>
            <a:ext cx="6400800" cy="365760"/>
          </a:xfrm>
          <a:prstGeom prst="rect">
            <a:avLst/>
          </a:prstGeom>
          <a:noFill/>
          <a:ln/>
        </p:spPr>
        <p:txBody>
          <a:bodyPr wrap="square" lIns="0" tIns="0" rIns="0" bIns="0" rtlCol="0" anchor="ctr"/>
          <a:lstStyle/>
          <a:p>
            <a:pPr indent="0" marL="0">
              <a:buNone/>
            </a:pPr>
            <a:r>
              <a:rPr lang="en-US" sz="1400" b="1" spc="400" kern="0" dirty="0">
                <a:solidFill>
                  <a:schemeClr val="accent1"/>
                </a:solidFill>
              </a:rPr>
              <a:t>MACHINE LEARNING PROJECT</a:t>
            </a:r>
            <a:endParaRPr lang="en-US" sz="1400" dirty="0"/>
          </a:p>
        </p:txBody>
      </p:sp>
      <p:sp>
        <p:nvSpPr>
          <p:cNvPr id="3" name="Deck title"/>
          <p:cNvSpPr txBox="1"/>
          <p:nvPr/>
        </p:nvSpPr>
        <p:spPr>
          <a:xfrm>
            <a:off x="548640" y="1691640"/>
            <a:ext cx="6675120" cy="1463040"/>
          </a:xfrm>
          <a:prstGeom prst="rect">
            <a:avLst/>
          </a:prstGeom>
          <a:noFill/>
          <a:ln/>
        </p:spPr>
        <p:txBody>
          <a:bodyPr wrap="square" lIns="0" tIns="0" rIns="0" bIns="0" rtlCol="0" anchor="t"/>
          <a:lstStyle/>
          <a:p>
            <a:pPr indent="0" marL="0">
              <a:buNone/>
            </a:pPr>
            <a:r>
              <a:rPr lang="en-US" sz="4200" b="1" dirty="0">
                <a:solidFill>
                  <a:schemeClr val="tx1"/>
                </a:solidFill>
                <a:latin typeface="Aptos Display" pitchFamily="34" charset="0"/>
                <a:ea typeface="Aptos Display" pitchFamily="34" charset="-122"/>
                <a:cs typeface="Aptos Display" pitchFamily="34" charset="-120"/>
              </a:rPr>
              <a:t>Credit Card Fraud Detection Using Machine Learning</a:t>
            </a:r>
            <a:endParaRPr lang="en-US" sz="4200" dirty="0"/>
          </a:p>
        </p:txBody>
      </p:sp>
      <p:sp>
        <p:nvSpPr>
          <p:cNvPr id="4" name="Subtitle"/>
          <p:cNvSpPr txBox="1"/>
          <p:nvPr/>
        </p:nvSpPr>
        <p:spPr>
          <a:xfrm>
            <a:off x="548640" y="3383280"/>
            <a:ext cx="6400800" cy="731520"/>
          </a:xfrm>
          <a:prstGeom prst="rect">
            <a:avLst/>
          </a:prstGeom>
          <a:noFill/>
          <a:ln/>
        </p:spPr>
        <p:txBody>
          <a:bodyPr wrap="square" lIns="0" tIns="0" rIns="0" bIns="0" rtlCol="0" anchor="t"/>
          <a:lstStyle/>
          <a:p>
            <a:pPr indent="0" marL="0">
              <a:buNone/>
            </a:pPr>
            <a:r>
              <a:rPr lang="en-US" sz="1800" dirty="0">
                <a:solidFill>
                  <a:schemeClr val="accent4"/>
                </a:solidFill>
              </a:rPr>
              <a:t>An XGBoost model with threshold tuning, and FraudShield, an agent-style CLI for Indian cards</a:t>
            </a:r>
            <a:endParaRPr lang="en-US" sz="1800" dirty="0"/>
          </a:p>
        </p:txBody>
      </p:sp>
      <p:sp>
        <p:nvSpPr>
          <p:cNvPr id="5" name="Course"/>
          <p:cNvSpPr txBox="1"/>
          <p:nvPr/>
        </p:nvSpPr>
        <p:spPr>
          <a:xfrm>
            <a:off x="548640" y="4297680"/>
            <a:ext cx="6400800" cy="6858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Subject: </a:t>
            </a:r>
            <a:pPr indent="0" marL="0">
              <a:spcAft>
                <a:spcPts val="400"/>
              </a:spcAft>
              <a:buNone/>
            </a:pPr>
            <a:r>
              <a:rPr lang="en-US" sz="1800" dirty="0">
                <a:solidFill>
                  <a:schemeClr val="tx1"/>
                </a:solidFill>
              </a:rPr>
              <a:t>ML (4IT47)</a:t>
            </a:r>
            <a:endParaRPr lang="en-US" sz="1800" dirty="0"/>
          </a:p>
          <a:p>
            <a:pPr indent="0" marL="0">
              <a:spcAft>
                <a:spcPts val="400"/>
              </a:spcAft>
              <a:buNone/>
            </a:pPr>
            <a:r>
              <a:rPr lang="en-US" sz="1800" b="1" dirty="0">
                <a:solidFill>
                  <a:schemeClr val="tx2"/>
                </a:solidFill>
              </a:rPr>
              <a:t>Coordinator: </a:t>
            </a:r>
            <a:pPr indent="0" marL="0">
              <a:spcAft>
                <a:spcPts val="400"/>
              </a:spcAft>
              <a:buNone/>
            </a:pPr>
            <a:r>
              <a:rPr lang="en-US" sz="1800" dirty="0">
                <a:solidFill>
                  <a:schemeClr val="tx1"/>
                </a:solidFill>
              </a:rPr>
              <a:t>Prof. Sherin Jijo</a:t>
            </a:r>
            <a:endParaRPr lang="en-US" sz="1800" dirty="0"/>
          </a:p>
        </p:txBody>
      </p:sp>
      <p:sp>
        <p:nvSpPr>
          <p:cNvPr id="6" name="ID pill"/>
          <p:cNvSpPr/>
          <p:nvPr/>
        </p:nvSpPr>
        <p:spPr>
          <a:xfrm>
            <a:off x="548640" y="5257800"/>
            <a:ext cx="2377440" cy="594360"/>
          </a:xfrm>
          <a:prstGeom prst="roundRect">
            <a:avLst>
              <a:gd name="adj" fmla="val 18462"/>
            </a:avLst>
          </a:prstGeom>
          <a:solidFill>
            <a:schemeClr val="accent1"/>
          </a:solidFill>
          <a:ln/>
          <a:effectLst>
            <a:outerShdw sx="100000" sy="100000" kx="0" ky="0" algn="bl" rotWithShape="0" blurRad="127000" dist="25400" dir="5400000">
              <a:srgbClr val="000000">
                <a:alpha val="10000"/>
              </a:srgbClr>
            </a:outerShdw>
          </a:effectLst>
        </p:spPr>
      </p:sp>
      <p:sp>
        <p:nvSpPr>
          <p:cNvPr id="7" name="ID"/>
          <p:cNvSpPr txBox="1"/>
          <p:nvPr/>
        </p:nvSpPr>
        <p:spPr>
          <a:xfrm>
            <a:off x="548640" y="5257800"/>
            <a:ext cx="2377440" cy="594360"/>
          </a:xfrm>
          <a:prstGeom prst="rect">
            <a:avLst/>
          </a:prstGeom>
          <a:noFill/>
          <a:ln/>
        </p:spPr>
        <p:txBody>
          <a:bodyPr wrap="square" lIns="0" tIns="0" rIns="0" bIns="0" rtlCol="0" anchor="ctr"/>
          <a:lstStyle/>
          <a:p>
            <a:pPr algn="ctr" indent="0" marL="0">
              <a:buNone/>
            </a:pPr>
            <a:r>
              <a:rPr lang="en-US" sz="2200" b="1" dirty="0">
                <a:solidFill>
                  <a:schemeClr val="bg1"/>
                </a:solidFill>
              </a:rPr>
              <a:t>ID: 23IT440</a:t>
            </a:r>
            <a:endParaRPr lang="en-US" sz="2200" dirty="0"/>
          </a:p>
        </p:txBody>
      </p:sp>
      <p:sp>
        <p:nvSpPr>
          <p:cNvPr id="8" name="Repo"/>
          <p:cNvSpPr txBox="1"/>
          <p:nvPr/>
        </p:nvSpPr>
        <p:spPr>
          <a:xfrm>
            <a:off x="3200400" y="5257800"/>
            <a:ext cx="5029200" cy="594360"/>
          </a:xfrm>
          <a:prstGeom prst="rect">
            <a:avLst/>
          </a:prstGeom>
          <a:noFill/>
          <a:ln/>
        </p:spPr>
        <p:txBody>
          <a:bodyPr wrap="square" lIns="0" tIns="0" rIns="0" bIns="0" rtlCol="0" anchor="ctr"/>
          <a:lstStyle/>
          <a:p>
            <a:pPr indent="0" marL="0">
              <a:buNone/>
            </a:pPr>
            <a:r>
              <a:rPr lang="en-US" sz="1600" b="1" dirty="0">
                <a:solidFill>
                  <a:schemeClr val="tx2"/>
                </a:solidFill>
              </a:rPr>
              <a:t>Repo: </a:t>
            </a:r>
            <a:pPr indent="0" marL="0">
              <a:buNone/>
            </a:pPr>
            <a:r>
              <a:rPr lang="en-US" sz="1600" dirty="0">
                <a:solidFill>
                  <a:schemeClr val="accent4"/>
                </a:solidFill>
              </a:rPr>
              <a:t>add your GitHub link here</a:t>
            </a:r>
            <a:endParaRPr lang="en-US" sz="1600" dirty="0"/>
          </a:p>
        </p:txBody>
      </p:sp>
      <p:sp>
        <p:nvSpPr>
          <p:cNvPr id="9" name="Halo"/>
          <p:cNvSpPr/>
          <p:nvPr/>
        </p:nvSpPr>
        <p:spPr>
          <a:xfrm>
            <a:off x="7452360" y="1143000"/>
            <a:ext cx="4206240" cy="4206240"/>
          </a:xfrm>
          <a:prstGeom prst="ellipse">
            <a:avLst/>
          </a:prstGeom>
          <a:solidFill>
            <a:schemeClr val="accent2">
              <a:alpha val="12000"/>
            </a:schemeClr>
          </a:solidFill>
          <a:ln/>
        </p:spPr>
      </p:sp>
      <p:sp>
        <p:nvSpPr>
          <p:cNvPr id="10" name="Back card"/>
          <p:cNvSpPr/>
          <p:nvPr/>
        </p:nvSpPr>
        <p:spPr>
          <a:xfrm rot="-480000">
            <a:off x="8001000" y="1828800"/>
            <a:ext cx="3566160" cy="2240280"/>
          </a:xfrm>
          <a:prstGeom prst="roundRect">
            <a:avLst>
              <a:gd name="adj" fmla="val 8163"/>
            </a:avLst>
          </a:prstGeom>
          <a:solidFill>
            <a:schemeClr val="tx2"/>
          </a:solidFill>
          <a:ln/>
          <a:effectLst>
            <a:outerShdw sx="100000" sy="100000" kx="0" ky="0" algn="bl" rotWithShape="0" blurRad="127000" dist="25400" dir="5400000">
              <a:srgbClr val="000000">
                <a:alpha val="10000"/>
              </a:srgbClr>
            </a:outerShdw>
          </a:effectLst>
        </p:spPr>
      </p:sp>
      <p:sp>
        <p:nvSpPr>
          <p:cNvPr id="11" name="Front card"/>
          <p:cNvSpPr/>
          <p:nvPr/>
        </p:nvSpPr>
        <p:spPr>
          <a:xfrm>
            <a:off x="7635240" y="2331720"/>
            <a:ext cx="3566160" cy="2240280"/>
          </a:xfrm>
          <a:prstGeom prst="roundRect">
            <a:avLst>
              <a:gd name="adj" fmla="val 8163"/>
            </a:avLst>
          </a:prstGeom>
          <a:solidFill>
            <a:schemeClr val="accent1"/>
          </a:solidFill>
          <a:ln/>
          <a:effectLst>
            <a:outerShdw sx="100000" sy="100000" kx="0" ky="0" algn="bl" rotWithShape="0" blurRad="127000" dist="25400" dir="5400000">
              <a:srgbClr val="000000">
                <a:alpha val="10000"/>
              </a:srgbClr>
            </a:outerShdw>
          </a:effectLst>
        </p:spPr>
      </p:sp>
      <p:sp>
        <p:nvSpPr>
          <p:cNvPr id="12" name="Chip"/>
          <p:cNvSpPr/>
          <p:nvPr/>
        </p:nvSpPr>
        <p:spPr>
          <a:xfrm>
            <a:off x="7955280" y="2697480"/>
            <a:ext cx="548640" cy="411480"/>
          </a:xfrm>
          <a:prstGeom prst="roundRect">
            <a:avLst>
              <a:gd name="adj" fmla="val 13333"/>
            </a:avLst>
          </a:prstGeom>
          <a:solidFill>
            <a:schemeClr val="bg1">
              <a:alpha val="75000"/>
            </a:schemeClr>
          </a:solidFill>
          <a:ln/>
        </p:spPr>
      </p:sp>
      <p:sp>
        <p:nvSpPr>
          <p:cNvPr id="13" name="Card number"/>
          <p:cNvSpPr txBox="1"/>
          <p:nvPr/>
        </p:nvSpPr>
        <p:spPr>
          <a:xfrm>
            <a:off x="7955280" y="3291840"/>
            <a:ext cx="3108960" cy="411480"/>
          </a:xfrm>
          <a:prstGeom prst="rect">
            <a:avLst/>
          </a:prstGeom>
          <a:noFill/>
          <a:ln/>
        </p:spPr>
        <p:txBody>
          <a:bodyPr wrap="square" lIns="0" tIns="0" rIns="0" bIns="0" rtlCol="0" anchor="ctr"/>
          <a:lstStyle/>
          <a:p>
            <a:pPr indent="0" marL="0">
              <a:buNone/>
            </a:pPr>
            <a:r>
              <a:rPr lang="en-US" sz="2000" b="1" dirty="0">
                <a:solidFill>
                  <a:schemeClr val="bg1"/>
                </a:solidFill>
              </a:rPr>
              <a:t>••••  ••••  ••••  7893</a:t>
            </a:r>
            <a:endParaRPr lang="en-US" sz="2000" dirty="0"/>
          </a:p>
        </p:txBody>
      </p:sp>
      <p:sp>
        <p:nvSpPr>
          <p:cNvPr id="14" name="Expiry"/>
          <p:cNvSpPr txBox="1"/>
          <p:nvPr/>
        </p:nvSpPr>
        <p:spPr>
          <a:xfrm>
            <a:off x="7955280" y="3977640"/>
            <a:ext cx="1737360" cy="320040"/>
          </a:xfrm>
          <a:prstGeom prst="rect">
            <a:avLst/>
          </a:prstGeom>
          <a:noFill/>
          <a:ln/>
        </p:spPr>
        <p:txBody>
          <a:bodyPr wrap="square" lIns="0" tIns="0" rIns="0" bIns="0" rtlCol="0" anchor="ctr"/>
          <a:lstStyle/>
          <a:p>
            <a:pPr indent="0" marL="0">
              <a:buNone/>
            </a:pPr>
            <a:r>
              <a:rPr lang="en-US" sz="1000" dirty="0">
                <a:solidFill>
                  <a:schemeClr val="bg1"/>
                </a:solidFill>
              </a:rPr>
              <a:t>VALID THRU 08/29</a:t>
            </a:r>
            <a:endParaRPr lang="en-US" sz="1000" dirty="0"/>
          </a:p>
        </p:txBody>
      </p:sp>
      <p:sp>
        <p:nvSpPr>
          <p:cNvPr id="15" name="Network"/>
          <p:cNvSpPr txBox="1"/>
          <p:nvPr/>
        </p:nvSpPr>
        <p:spPr>
          <a:xfrm>
            <a:off x="9098280" y="3931920"/>
            <a:ext cx="1188720" cy="411480"/>
          </a:xfrm>
          <a:prstGeom prst="rect">
            <a:avLst/>
          </a:prstGeom>
          <a:noFill/>
          <a:ln/>
        </p:spPr>
        <p:txBody>
          <a:bodyPr wrap="square" lIns="0" tIns="0" rIns="0" bIns="0" rtlCol="0" anchor="ctr"/>
          <a:lstStyle/>
          <a:p>
            <a:pPr algn="r" indent="0" marL="0">
              <a:buNone/>
            </a:pPr>
            <a:r>
              <a:rPr lang="en-US" sz="1800" b="1" i="1" dirty="0">
                <a:solidFill>
                  <a:schemeClr val="bg1"/>
                </a:solidFill>
              </a:rPr>
              <a:t>RuPay</a:t>
            </a:r>
            <a:endParaRPr lang="en-US" sz="1800" dirty="0"/>
          </a:p>
        </p:txBody>
      </p:sp>
      <p:sp>
        <p:nvSpPr>
          <p:cNvPr id="16" name="Shield badge"/>
          <p:cNvSpPr/>
          <p:nvPr/>
        </p:nvSpPr>
        <p:spPr>
          <a:xfrm>
            <a:off x="10469880" y="4160520"/>
            <a:ext cx="1234440" cy="1234440"/>
          </a:xfrm>
          <a:prstGeom prst="ellipse">
            <a:avLst/>
          </a:prstGeom>
          <a:solidFill>
            <a:schemeClr val="accent2"/>
          </a:solidFill>
          <a:ln w="38100">
            <a:solidFill>
              <a:srgbClr val="FFFFFF"/>
            </a:solidFill>
            <a:prstDash val="solid"/>
          </a:ln>
          <a:effectLst>
            <a:outerShdw sx="100000" sy="100000" kx="0" ky="0" algn="bl" rotWithShape="0" blurRad="127000" dist="25400" dir="5400000">
              <a:srgbClr val="000000">
                <a:alpha val="10000"/>
              </a:srgbClr>
            </a:outerShdw>
          </a:effectLst>
        </p:spPr>
      </p:sp>
      <p:pic>
        <p:nvPicPr>
          <p:cNvPr id="17" name="Shield icon" descr="preencoded.png">    </p:cNvPr>
          <p:cNvPicPr>
            <a:picLocks noChangeAspect="1"/>
          </p:cNvPicPr>
          <p:nvPr/>
        </p:nvPicPr>
        <p:blipFill>
          <a:blip r:embed="rId1"/>
          <a:stretch>
            <a:fillRect/>
          </a:stretch>
        </p:blipFill>
        <p:spPr>
          <a:xfrm>
            <a:off x="10789920" y="4480560"/>
            <a:ext cx="594360" cy="594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Problem and Dataset</a:t>
            </a:r>
            <a:endParaRPr lang="en-US" sz="3200" dirty="0"/>
          </a:p>
        </p:txBody>
      </p:sp>
      <p:sp>
        <p:nvSpPr>
          <p:cNvPr id="3" name="The problem tile"/>
          <p:cNvSpPr/>
          <p:nvPr/>
        </p:nvSpPr>
        <p:spPr>
          <a:xfrm>
            <a:off x="548640" y="1463040"/>
            <a:ext cx="640080" cy="640080"/>
          </a:xfrm>
          <a:prstGeom prst="roundRect">
            <a:avLst>
              <a:gd name="adj" fmla="val 14286"/>
            </a:avLst>
          </a:prstGeom>
          <a:solidFill>
            <a:schemeClr val="accent1">
              <a:alpha val="12000"/>
            </a:schemeClr>
          </a:solidFill>
          <a:ln/>
        </p:spPr>
      </p:sp>
      <p:pic>
        <p:nvPicPr>
          <p:cNvPr id="4" name="The problem icon" descr="preencoded.png">    </p:cNvPr>
          <p:cNvPicPr>
            <a:picLocks noChangeAspect="1"/>
          </p:cNvPicPr>
          <p:nvPr/>
        </p:nvPicPr>
        <p:blipFill>
          <a:blip r:embed="rId1"/>
          <a:stretch>
            <a:fillRect/>
          </a:stretch>
        </p:blipFill>
        <p:spPr>
          <a:xfrm>
            <a:off x="702259" y="1616659"/>
            <a:ext cx="332842" cy="332842"/>
          </a:xfrm>
          <a:prstGeom prst="rect">
            <a:avLst/>
          </a:prstGeom>
        </p:spPr>
      </p:pic>
      <p:sp>
        <p:nvSpPr>
          <p:cNvPr id="5" name="The problem head"/>
          <p:cNvSpPr txBox="1"/>
          <p:nvPr/>
        </p:nvSpPr>
        <p:spPr>
          <a:xfrm>
            <a:off x="1417320" y="1463040"/>
            <a:ext cx="4480560" cy="365760"/>
          </a:xfrm>
          <a:prstGeom prst="rect">
            <a:avLst/>
          </a:prstGeom>
          <a:noFill/>
          <a:ln/>
        </p:spPr>
        <p:txBody>
          <a:bodyPr wrap="square" lIns="0" tIns="0" rIns="0" bIns="0" rtlCol="0" anchor="ctr"/>
          <a:lstStyle/>
          <a:p>
            <a:pPr indent="0" marL="0">
              <a:buNone/>
            </a:pPr>
            <a:r>
              <a:rPr lang="en-US" sz="2000" b="1" dirty="0">
                <a:solidFill>
                  <a:schemeClr val="tx1"/>
                </a:solidFill>
              </a:rPr>
              <a:t>The problem</a:t>
            </a:r>
            <a:endParaRPr lang="en-US" sz="2000" dirty="0"/>
          </a:p>
        </p:txBody>
      </p:sp>
      <p:sp>
        <p:nvSpPr>
          <p:cNvPr id="6" name="The problem body"/>
          <p:cNvSpPr txBox="1"/>
          <p:nvPr/>
        </p:nvSpPr>
        <p:spPr>
          <a:xfrm>
            <a:off x="1417320" y="1874520"/>
            <a:ext cx="4480560" cy="822960"/>
          </a:xfrm>
          <a:prstGeom prst="rect">
            <a:avLst/>
          </a:prstGeom>
          <a:noFill/>
          <a:ln/>
        </p:spPr>
        <p:txBody>
          <a:bodyPr wrap="square" lIns="0" tIns="0" rIns="0" bIns="0" rtlCol="0" anchor="t"/>
          <a:lstStyle/>
          <a:p>
            <a:pPr indent="0" marL="0">
              <a:buNone/>
            </a:pPr>
            <a:r>
              <a:rPr lang="en-US" sz="1600" dirty="0">
                <a:solidFill>
                  <a:schemeClr val="accent4"/>
                </a:solidFill>
              </a:rPr>
              <a:t>Fraud is rare and hides inside millions of normal card payments.</a:t>
            </a:r>
            <a:endParaRPr lang="en-US" sz="1600" dirty="0"/>
          </a:p>
        </p:txBody>
      </p:sp>
      <p:sp>
        <p:nvSpPr>
          <p:cNvPr id="7" name="Our goal tile"/>
          <p:cNvSpPr/>
          <p:nvPr/>
        </p:nvSpPr>
        <p:spPr>
          <a:xfrm>
            <a:off x="548640" y="2971800"/>
            <a:ext cx="640080" cy="640080"/>
          </a:xfrm>
          <a:prstGeom prst="roundRect">
            <a:avLst>
              <a:gd name="adj" fmla="val 14286"/>
            </a:avLst>
          </a:prstGeom>
          <a:solidFill>
            <a:schemeClr val="accent1">
              <a:alpha val="12000"/>
            </a:schemeClr>
          </a:solidFill>
          <a:ln/>
        </p:spPr>
      </p:sp>
      <p:pic>
        <p:nvPicPr>
          <p:cNvPr id="8" name="Our goal icon" descr="preencoded.png">    </p:cNvPr>
          <p:cNvPicPr>
            <a:picLocks noChangeAspect="1"/>
          </p:cNvPicPr>
          <p:nvPr/>
        </p:nvPicPr>
        <p:blipFill>
          <a:blip r:embed="rId2"/>
          <a:stretch>
            <a:fillRect/>
          </a:stretch>
        </p:blipFill>
        <p:spPr>
          <a:xfrm>
            <a:off x="702259" y="3125419"/>
            <a:ext cx="332842" cy="332842"/>
          </a:xfrm>
          <a:prstGeom prst="rect">
            <a:avLst/>
          </a:prstGeom>
        </p:spPr>
      </p:pic>
      <p:sp>
        <p:nvSpPr>
          <p:cNvPr id="9" name="Our goal head"/>
          <p:cNvSpPr txBox="1"/>
          <p:nvPr/>
        </p:nvSpPr>
        <p:spPr>
          <a:xfrm>
            <a:off x="1417320" y="2971800"/>
            <a:ext cx="4480560" cy="365760"/>
          </a:xfrm>
          <a:prstGeom prst="rect">
            <a:avLst/>
          </a:prstGeom>
          <a:noFill/>
          <a:ln/>
        </p:spPr>
        <p:txBody>
          <a:bodyPr wrap="square" lIns="0" tIns="0" rIns="0" bIns="0" rtlCol="0" anchor="ctr"/>
          <a:lstStyle/>
          <a:p>
            <a:pPr indent="0" marL="0">
              <a:buNone/>
            </a:pPr>
            <a:r>
              <a:rPr lang="en-US" sz="2000" b="1" dirty="0">
                <a:solidFill>
                  <a:schemeClr val="tx1"/>
                </a:solidFill>
              </a:rPr>
              <a:t>Our goal</a:t>
            </a:r>
            <a:endParaRPr lang="en-US" sz="2000" dirty="0"/>
          </a:p>
        </p:txBody>
      </p:sp>
      <p:sp>
        <p:nvSpPr>
          <p:cNvPr id="10" name="Our goal body"/>
          <p:cNvSpPr txBox="1"/>
          <p:nvPr/>
        </p:nvSpPr>
        <p:spPr>
          <a:xfrm>
            <a:off x="1417320" y="3383280"/>
            <a:ext cx="4480560" cy="822960"/>
          </a:xfrm>
          <a:prstGeom prst="rect">
            <a:avLst/>
          </a:prstGeom>
          <a:noFill/>
          <a:ln/>
        </p:spPr>
        <p:txBody>
          <a:bodyPr wrap="square" lIns="0" tIns="0" rIns="0" bIns="0" rtlCol="0" anchor="t"/>
          <a:lstStyle/>
          <a:p>
            <a:pPr indent="0" marL="0">
              <a:buNone/>
            </a:pPr>
            <a:r>
              <a:rPr lang="en-US" sz="1600" dirty="0">
                <a:solidFill>
                  <a:schemeClr val="accent4"/>
                </a:solidFill>
              </a:rPr>
              <a:t>Flag fraud in real time while keeping false alarms low.</a:t>
            </a:r>
            <a:endParaRPr lang="en-US" sz="1600" dirty="0"/>
          </a:p>
        </p:txBody>
      </p:sp>
      <p:sp>
        <p:nvSpPr>
          <p:cNvPr id="11" name="The data tile"/>
          <p:cNvSpPr/>
          <p:nvPr/>
        </p:nvSpPr>
        <p:spPr>
          <a:xfrm>
            <a:off x="548640" y="4480560"/>
            <a:ext cx="640080" cy="640080"/>
          </a:xfrm>
          <a:prstGeom prst="roundRect">
            <a:avLst>
              <a:gd name="adj" fmla="val 14286"/>
            </a:avLst>
          </a:prstGeom>
          <a:solidFill>
            <a:schemeClr val="accent1">
              <a:alpha val="12000"/>
            </a:schemeClr>
          </a:solidFill>
          <a:ln/>
        </p:spPr>
      </p:sp>
      <p:pic>
        <p:nvPicPr>
          <p:cNvPr id="12" name="The data icon" descr="preencoded.png">    </p:cNvPr>
          <p:cNvPicPr>
            <a:picLocks noChangeAspect="1"/>
          </p:cNvPicPr>
          <p:nvPr/>
        </p:nvPicPr>
        <p:blipFill>
          <a:blip r:embed="rId3"/>
          <a:stretch>
            <a:fillRect/>
          </a:stretch>
        </p:blipFill>
        <p:spPr>
          <a:xfrm>
            <a:off x="702259" y="4634179"/>
            <a:ext cx="332842" cy="332842"/>
          </a:xfrm>
          <a:prstGeom prst="rect">
            <a:avLst/>
          </a:prstGeom>
        </p:spPr>
      </p:pic>
      <p:sp>
        <p:nvSpPr>
          <p:cNvPr id="13" name="The data head"/>
          <p:cNvSpPr txBox="1"/>
          <p:nvPr/>
        </p:nvSpPr>
        <p:spPr>
          <a:xfrm>
            <a:off x="1417320" y="4480560"/>
            <a:ext cx="4480560" cy="365760"/>
          </a:xfrm>
          <a:prstGeom prst="rect">
            <a:avLst/>
          </a:prstGeom>
          <a:noFill/>
          <a:ln/>
        </p:spPr>
        <p:txBody>
          <a:bodyPr wrap="square" lIns="0" tIns="0" rIns="0" bIns="0" rtlCol="0" anchor="ctr"/>
          <a:lstStyle/>
          <a:p>
            <a:pPr indent="0" marL="0">
              <a:buNone/>
            </a:pPr>
            <a:r>
              <a:rPr lang="en-US" sz="2000" b="1" dirty="0">
                <a:solidFill>
                  <a:schemeClr val="tx1"/>
                </a:solidFill>
              </a:rPr>
              <a:t>The data</a:t>
            </a:r>
            <a:endParaRPr lang="en-US" sz="2000" dirty="0"/>
          </a:p>
        </p:txBody>
      </p:sp>
      <p:sp>
        <p:nvSpPr>
          <p:cNvPr id="14" name="The data body"/>
          <p:cNvSpPr txBox="1"/>
          <p:nvPr/>
        </p:nvSpPr>
        <p:spPr>
          <a:xfrm>
            <a:off x="1417320" y="4892040"/>
            <a:ext cx="4480560" cy="822960"/>
          </a:xfrm>
          <a:prstGeom prst="rect">
            <a:avLst/>
          </a:prstGeom>
          <a:noFill/>
          <a:ln/>
        </p:spPr>
        <p:txBody>
          <a:bodyPr wrap="square" lIns="0" tIns="0" rIns="0" bIns="0" rtlCol="0" anchor="t"/>
          <a:lstStyle/>
          <a:p>
            <a:pPr indent="0" marL="0">
              <a:buNone/>
            </a:pPr>
            <a:r>
              <a:rPr lang="en-US" sz="1600" dirty="0">
                <a:solidFill>
                  <a:schemeClr val="accent4"/>
                </a:solidFill>
              </a:rPr>
              <a:t>Kaggle kartik2112/fraud-detection, simulated card transactions. Amounts converted to INR.</a:t>
            </a:r>
            <a:endParaRPr lang="en-US" sz="1600" dirty="0"/>
          </a:p>
        </p:txBody>
      </p:sp>
      <p:sp>
        <p:nvSpPr>
          <p:cNvPr id="15" name="Stat card 1"/>
          <p:cNvSpPr/>
          <p:nvPr/>
        </p:nvSpPr>
        <p:spPr>
          <a:xfrm>
            <a:off x="6309360" y="1463040"/>
            <a:ext cx="2514600" cy="2103120"/>
          </a:xfrm>
          <a:prstGeom prst="roundRect">
            <a:avLst>
              <a:gd name="adj" fmla="val 5217"/>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16" name="Stat value 1"/>
          <p:cNvSpPr txBox="1"/>
          <p:nvPr/>
        </p:nvSpPr>
        <p:spPr>
          <a:xfrm>
            <a:off x="6537960" y="1965960"/>
            <a:ext cx="2057400" cy="685800"/>
          </a:xfrm>
          <a:prstGeom prst="rect">
            <a:avLst/>
          </a:prstGeom>
          <a:noFill/>
          <a:ln/>
        </p:spPr>
        <p:txBody>
          <a:bodyPr wrap="square" lIns="0" tIns="0" rIns="0" bIns="0" rtlCol="0" anchor="ctr"/>
          <a:lstStyle/>
          <a:p>
            <a:pPr indent="0" marL="0">
              <a:buNone/>
            </a:pPr>
            <a:r>
              <a:rPr lang="en-US" sz="3200" b="1" dirty="0">
                <a:solidFill>
                  <a:schemeClr val="tx2"/>
                </a:solidFill>
                <a:latin typeface="Aptos Display" pitchFamily="34" charset="0"/>
                <a:ea typeface="Aptos Display" pitchFamily="34" charset="-122"/>
                <a:cs typeface="Aptos Display" pitchFamily="34" charset="-120"/>
              </a:rPr>
              <a:t>1,296,675</a:t>
            </a:r>
            <a:endParaRPr lang="en-US" sz="3200" dirty="0"/>
          </a:p>
        </p:txBody>
      </p:sp>
      <p:sp>
        <p:nvSpPr>
          <p:cNvPr id="17" name="Stat label 1"/>
          <p:cNvSpPr txBox="1"/>
          <p:nvPr/>
        </p:nvSpPr>
        <p:spPr>
          <a:xfrm>
            <a:off x="6537960" y="2697480"/>
            <a:ext cx="2057400" cy="548640"/>
          </a:xfrm>
          <a:prstGeom prst="rect">
            <a:avLst/>
          </a:prstGeom>
          <a:noFill/>
          <a:ln/>
        </p:spPr>
        <p:txBody>
          <a:bodyPr wrap="square" lIns="0" tIns="0" rIns="0" bIns="0" rtlCol="0" anchor="t"/>
          <a:lstStyle/>
          <a:p>
            <a:pPr indent="0" marL="0">
              <a:buNone/>
            </a:pPr>
            <a:r>
              <a:rPr lang="en-US" sz="1500" dirty="0">
                <a:solidFill>
                  <a:schemeClr val="accent4"/>
                </a:solidFill>
              </a:rPr>
              <a:t>training transactions</a:t>
            </a:r>
            <a:endParaRPr lang="en-US" sz="1500" dirty="0"/>
          </a:p>
        </p:txBody>
      </p:sp>
      <p:sp>
        <p:nvSpPr>
          <p:cNvPr id="18" name="Stat card 2"/>
          <p:cNvSpPr/>
          <p:nvPr/>
        </p:nvSpPr>
        <p:spPr>
          <a:xfrm>
            <a:off x="9098280" y="1463040"/>
            <a:ext cx="2514600" cy="2103120"/>
          </a:xfrm>
          <a:prstGeom prst="roundRect">
            <a:avLst>
              <a:gd name="adj" fmla="val 5217"/>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19" name="Stat value 2"/>
          <p:cNvSpPr txBox="1"/>
          <p:nvPr/>
        </p:nvSpPr>
        <p:spPr>
          <a:xfrm>
            <a:off x="9326880" y="1965960"/>
            <a:ext cx="2057400" cy="685800"/>
          </a:xfrm>
          <a:prstGeom prst="rect">
            <a:avLst/>
          </a:prstGeom>
          <a:noFill/>
          <a:ln/>
        </p:spPr>
        <p:txBody>
          <a:bodyPr wrap="square" lIns="0" tIns="0" rIns="0" bIns="0" rtlCol="0" anchor="ctr"/>
          <a:lstStyle/>
          <a:p>
            <a:pPr indent="0" marL="0">
              <a:buNone/>
            </a:pPr>
            <a:r>
              <a:rPr lang="en-US" sz="3200" b="1" dirty="0">
                <a:solidFill>
                  <a:schemeClr val="tx2"/>
                </a:solidFill>
                <a:latin typeface="Aptos Display" pitchFamily="34" charset="0"/>
                <a:ea typeface="Aptos Display" pitchFamily="34" charset="-122"/>
                <a:cs typeface="Aptos Display" pitchFamily="34" charset="-120"/>
              </a:rPr>
              <a:t>555,719</a:t>
            </a:r>
            <a:endParaRPr lang="en-US" sz="3200" dirty="0"/>
          </a:p>
        </p:txBody>
      </p:sp>
      <p:sp>
        <p:nvSpPr>
          <p:cNvPr id="20" name="Stat label 2"/>
          <p:cNvSpPr txBox="1"/>
          <p:nvPr/>
        </p:nvSpPr>
        <p:spPr>
          <a:xfrm>
            <a:off x="9326880" y="2697480"/>
            <a:ext cx="2057400" cy="548640"/>
          </a:xfrm>
          <a:prstGeom prst="rect">
            <a:avLst/>
          </a:prstGeom>
          <a:noFill/>
          <a:ln/>
        </p:spPr>
        <p:txBody>
          <a:bodyPr wrap="square" lIns="0" tIns="0" rIns="0" bIns="0" rtlCol="0" anchor="t"/>
          <a:lstStyle/>
          <a:p>
            <a:pPr indent="0" marL="0">
              <a:buNone/>
            </a:pPr>
            <a:r>
              <a:rPr lang="en-US" sz="1500" dirty="0">
                <a:solidFill>
                  <a:schemeClr val="accent4"/>
                </a:solidFill>
              </a:rPr>
              <a:t>test transactions (unseen)</a:t>
            </a:r>
            <a:endParaRPr lang="en-US" sz="1500" dirty="0"/>
          </a:p>
        </p:txBody>
      </p:sp>
      <p:sp>
        <p:nvSpPr>
          <p:cNvPr id="21" name="Stat card 3"/>
          <p:cNvSpPr/>
          <p:nvPr/>
        </p:nvSpPr>
        <p:spPr>
          <a:xfrm>
            <a:off x="6309360" y="3840480"/>
            <a:ext cx="2514600" cy="2103120"/>
          </a:xfrm>
          <a:prstGeom prst="roundRect">
            <a:avLst>
              <a:gd name="adj" fmla="val 5217"/>
            </a:avLst>
          </a:prstGeom>
          <a:solidFill>
            <a:schemeClr val="accent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22" name="Stat value 3"/>
          <p:cNvSpPr txBox="1"/>
          <p:nvPr/>
        </p:nvSpPr>
        <p:spPr>
          <a:xfrm>
            <a:off x="6537960" y="4343400"/>
            <a:ext cx="2057400" cy="685800"/>
          </a:xfrm>
          <a:prstGeom prst="rect">
            <a:avLst/>
          </a:prstGeom>
          <a:noFill/>
          <a:ln/>
        </p:spPr>
        <p:txBody>
          <a:bodyPr wrap="square" lIns="0" tIns="0" rIns="0" bIns="0" rtlCol="0" anchor="ctr"/>
          <a:lstStyle/>
          <a:p>
            <a:pPr indent="0" marL="0">
              <a:buNone/>
            </a:pPr>
            <a:r>
              <a:rPr lang="en-US" sz="3200" b="1" dirty="0">
                <a:solidFill>
                  <a:schemeClr val="bg1"/>
                </a:solidFill>
                <a:latin typeface="Aptos Display" pitchFamily="34" charset="0"/>
                <a:ea typeface="Aptos Display" pitchFamily="34" charset="-122"/>
                <a:cs typeface="Aptos Display" pitchFamily="34" charset="-120"/>
              </a:rPr>
              <a:t>0.58%</a:t>
            </a:r>
            <a:endParaRPr lang="en-US" sz="3200" dirty="0"/>
          </a:p>
        </p:txBody>
      </p:sp>
      <p:sp>
        <p:nvSpPr>
          <p:cNvPr id="23" name="Stat label 3"/>
          <p:cNvSpPr txBox="1"/>
          <p:nvPr/>
        </p:nvSpPr>
        <p:spPr>
          <a:xfrm>
            <a:off x="6537960" y="5074920"/>
            <a:ext cx="2057400" cy="548640"/>
          </a:xfrm>
          <a:prstGeom prst="rect">
            <a:avLst/>
          </a:prstGeom>
          <a:noFill/>
          <a:ln/>
        </p:spPr>
        <p:txBody>
          <a:bodyPr wrap="square" lIns="0" tIns="0" rIns="0" bIns="0" rtlCol="0" anchor="t"/>
          <a:lstStyle/>
          <a:p>
            <a:pPr indent="0" marL="0">
              <a:buNone/>
            </a:pPr>
            <a:r>
              <a:rPr lang="en-US" sz="1500" dirty="0">
                <a:solidFill>
                  <a:schemeClr val="bg1"/>
                </a:solidFill>
              </a:rPr>
              <a:t>of transactions are fraud</a:t>
            </a:r>
            <a:endParaRPr lang="en-US" sz="1500" dirty="0"/>
          </a:p>
        </p:txBody>
      </p:sp>
      <p:sp>
        <p:nvSpPr>
          <p:cNvPr id="24" name="Stat card 4"/>
          <p:cNvSpPr/>
          <p:nvPr/>
        </p:nvSpPr>
        <p:spPr>
          <a:xfrm>
            <a:off x="9098280" y="3840480"/>
            <a:ext cx="2514600" cy="2103120"/>
          </a:xfrm>
          <a:prstGeom prst="roundRect">
            <a:avLst>
              <a:gd name="adj" fmla="val 5217"/>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25" name="Stat value 4"/>
          <p:cNvSpPr txBox="1"/>
          <p:nvPr/>
        </p:nvSpPr>
        <p:spPr>
          <a:xfrm>
            <a:off x="9326880" y="4343400"/>
            <a:ext cx="2057400" cy="685800"/>
          </a:xfrm>
          <a:prstGeom prst="rect">
            <a:avLst/>
          </a:prstGeom>
          <a:noFill/>
          <a:ln/>
        </p:spPr>
        <p:txBody>
          <a:bodyPr wrap="square" lIns="0" tIns="0" rIns="0" bIns="0" rtlCol="0" anchor="ctr"/>
          <a:lstStyle/>
          <a:p>
            <a:pPr indent="0" marL="0">
              <a:buNone/>
            </a:pPr>
            <a:r>
              <a:rPr lang="en-US" sz="3200" b="1" dirty="0">
                <a:solidFill>
                  <a:schemeClr val="tx2"/>
                </a:solidFill>
                <a:latin typeface="Aptos Display" pitchFamily="34" charset="0"/>
                <a:ea typeface="Aptos Display" pitchFamily="34" charset="-122"/>
                <a:cs typeface="Aptos Display" pitchFamily="34" charset="-120"/>
              </a:rPr>
              <a:t>14</a:t>
            </a:r>
            <a:endParaRPr lang="en-US" sz="3200" dirty="0"/>
          </a:p>
        </p:txBody>
      </p:sp>
      <p:sp>
        <p:nvSpPr>
          <p:cNvPr id="26" name="Stat label 4"/>
          <p:cNvSpPr txBox="1"/>
          <p:nvPr/>
        </p:nvSpPr>
        <p:spPr>
          <a:xfrm>
            <a:off x="9326880" y="5074920"/>
            <a:ext cx="2057400" cy="548640"/>
          </a:xfrm>
          <a:prstGeom prst="rect">
            <a:avLst/>
          </a:prstGeom>
          <a:noFill/>
          <a:ln/>
        </p:spPr>
        <p:txBody>
          <a:bodyPr wrap="square" lIns="0" tIns="0" rIns="0" bIns="0" rtlCol="0" anchor="t"/>
          <a:lstStyle/>
          <a:p>
            <a:pPr indent="0" marL="0">
              <a:buNone/>
            </a:pPr>
            <a:r>
              <a:rPr lang="en-US" sz="1500" dirty="0">
                <a:solidFill>
                  <a:schemeClr val="accent4"/>
                </a:solidFill>
              </a:rPr>
              <a:t>merchant categories</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Feature Engineering</a:t>
            </a:r>
            <a:endParaRPr lang="en-US" sz="3200" dirty="0"/>
          </a:p>
        </p:txBody>
      </p:sp>
      <p:sp>
        <p:nvSpPr>
          <p:cNvPr id="3" name="Intro"/>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chemeClr val="accent4"/>
                </a:solidFill>
              </a:rPr>
              <a:t>Raw rows turned into 8 signals. Card history uses only earlier transactions, so there is no data leakage.</a:t>
            </a:r>
            <a:endParaRPr lang="en-US" sz="1600" dirty="0"/>
          </a:p>
        </p:txBody>
      </p:sp>
      <p:sp>
        <p:nvSpPr>
          <p:cNvPr id="4" name="Feature card 1"/>
          <p:cNvSpPr/>
          <p:nvPr/>
        </p:nvSpPr>
        <p:spPr>
          <a:xfrm>
            <a:off x="548640" y="1783080"/>
            <a:ext cx="2567864"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5" name="Amount (INR) tile"/>
          <p:cNvSpPr/>
          <p:nvPr/>
        </p:nvSpPr>
        <p:spPr>
          <a:xfrm>
            <a:off x="777240" y="2011680"/>
            <a:ext cx="548640" cy="548640"/>
          </a:xfrm>
          <a:prstGeom prst="roundRect">
            <a:avLst>
              <a:gd name="adj" fmla="val 16667"/>
            </a:avLst>
          </a:prstGeom>
          <a:solidFill>
            <a:schemeClr val="accent1">
              <a:alpha val="12000"/>
            </a:schemeClr>
          </a:solidFill>
          <a:ln/>
        </p:spPr>
      </p:sp>
      <p:pic>
        <p:nvPicPr>
          <p:cNvPr id="6" name="Amount (INR) icon" descr="preencoded.png">    </p:cNvPr>
          <p:cNvPicPr>
            <a:picLocks noChangeAspect="1"/>
          </p:cNvPicPr>
          <p:nvPr/>
        </p:nvPicPr>
        <p:blipFill>
          <a:blip r:embed="rId1"/>
          <a:stretch>
            <a:fillRect/>
          </a:stretch>
        </p:blipFill>
        <p:spPr>
          <a:xfrm>
            <a:off x="908914" y="2143354"/>
            <a:ext cx="285293" cy="285293"/>
          </a:xfrm>
          <a:prstGeom prst="rect">
            <a:avLst/>
          </a:prstGeom>
        </p:spPr>
      </p:pic>
      <p:sp>
        <p:nvSpPr>
          <p:cNvPr id="7" name="Amount (INR) name"/>
          <p:cNvSpPr txBox="1"/>
          <p:nvPr/>
        </p:nvSpPr>
        <p:spPr>
          <a:xfrm>
            <a:off x="777240" y="2697480"/>
            <a:ext cx="2110664" cy="365760"/>
          </a:xfrm>
          <a:prstGeom prst="rect">
            <a:avLst/>
          </a:prstGeom>
          <a:noFill/>
          <a:ln/>
        </p:spPr>
        <p:txBody>
          <a:bodyPr wrap="square" lIns="0" tIns="0" rIns="0" bIns="0" rtlCol="0" anchor="ctr"/>
          <a:lstStyle/>
          <a:p>
            <a:pPr indent="0" marL="0">
              <a:buNone/>
            </a:pPr>
            <a:r>
              <a:rPr lang="en-US" sz="1700" b="1" dirty="0">
                <a:solidFill>
                  <a:schemeClr val="tx1"/>
                </a:solidFill>
              </a:rPr>
              <a:t>Amount (INR)</a:t>
            </a:r>
            <a:endParaRPr lang="en-US" sz="1700" dirty="0"/>
          </a:p>
        </p:txBody>
      </p:sp>
      <p:sp>
        <p:nvSpPr>
          <p:cNvPr id="8" name="Amount (INR) why"/>
          <p:cNvSpPr txBox="1"/>
          <p:nvPr/>
        </p:nvSpPr>
        <p:spPr>
          <a:xfrm>
            <a:off x="777240" y="3081528"/>
            <a:ext cx="2110664" cy="594360"/>
          </a:xfrm>
          <a:prstGeom prst="rect">
            <a:avLst/>
          </a:prstGeom>
          <a:noFill/>
          <a:ln/>
        </p:spPr>
        <p:txBody>
          <a:bodyPr wrap="square" lIns="0" tIns="0" rIns="0" bIns="0" rtlCol="0" anchor="t"/>
          <a:lstStyle/>
          <a:p>
            <a:pPr indent="0" marL="0">
              <a:buNone/>
            </a:pPr>
            <a:r>
              <a:rPr lang="en-US" sz="1400" dirty="0">
                <a:solidFill>
                  <a:schemeClr val="accent4"/>
                </a:solidFill>
              </a:rPr>
              <a:t>Median fraud ₹32,900 vs ₹3,900 normal</a:t>
            </a:r>
            <a:endParaRPr lang="en-US" sz="1400" dirty="0"/>
          </a:p>
        </p:txBody>
      </p:sp>
      <p:sp>
        <p:nvSpPr>
          <p:cNvPr id="9" name="Feature card 2"/>
          <p:cNvSpPr/>
          <p:nvPr/>
        </p:nvSpPr>
        <p:spPr>
          <a:xfrm>
            <a:off x="3390824" y="1783080"/>
            <a:ext cx="2567864"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10" name="Night time tile"/>
          <p:cNvSpPr/>
          <p:nvPr/>
        </p:nvSpPr>
        <p:spPr>
          <a:xfrm>
            <a:off x="3619424" y="2011680"/>
            <a:ext cx="548640" cy="548640"/>
          </a:xfrm>
          <a:prstGeom prst="roundRect">
            <a:avLst>
              <a:gd name="adj" fmla="val 16667"/>
            </a:avLst>
          </a:prstGeom>
          <a:solidFill>
            <a:schemeClr val="accent1">
              <a:alpha val="12000"/>
            </a:schemeClr>
          </a:solidFill>
          <a:ln/>
        </p:spPr>
      </p:sp>
      <p:pic>
        <p:nvPicPr>
          <p:cNvPr id="11" name="Night time icon" descr="preencoded.png">    </p:cNvPr>
          <p:cNvPicPr>
            <a:picLocks noChangeAspect="1"/>
          </p:cNvPicPr>
          <p:nvPr/>
        </p:nvPicPr>
        <p:blipFill>
          <a:blip r:embed="rId2"/>
          <a:stretch>
            <a:fillRect/>
          </a:stretch>
        </p:blipFill>
        <p:spPr>
          <a:xfrm>
            <a:off x="3751097" y="2143354"/>
            <a:ext cx="285293" cy="285293"/>
          </a:xfrm>
          <a:prstGeom prst="rect">
            <a:avLst/>
          </a:prstGeom>
        </p:spPr>
      </p:pic>
      <p:sp>
        <p:nvSpPr>
          <p:cNvPr id="12" name="Night time name"/>
          <p:cNvSpPr txBox="1"/>
          <p:nvPr/>
        </p:nvSpPr>
        <p:spPr>
          <a:xfrm>
            <a:off x="3619424" y="2697480"/>
            <a:ext cx="2110664" cy="365760"/>
          </a:xfrm>
          <a:prstGeom prst="rect">
            <a:avLst/>
          </a:prstGeom>
          <a:noFill/>
          <a:ln/>
        </p:spPr>
        <p:txBody>
          <a:bodyPr wrap="square" lIns="0" tIns="0" rIns="0" bIns="0" rtlCol="0" anchor="ctr"/>
          <a:lstStyle/>
          <a:p>
            <a:pPr indent="0" marL="0">
              <a:buNone/>
            </a:pPr>
            <a:r>
              <a:rPr lang="en-US" sz="1700" b="1" dirty="0">
                <a:solidFill>
                  <a:schemeClr val="tx1"/>
                </a:solidFill>
              </a:rPr>
              <a:t>Night time</a:t>
            </a:r>
            <a:endParaRPr lang="en-US" sz="1700" dirty="0"/>
          </a:p>
        </p:txBody>
      </p:sp>
      <p:sp>
        <p:nvSpPr>
          <p:cNvPr id="13" name="Night time why"/>
          <p:cNvSpPr txBox="1"/>
          <p:nvPr/>
        </p:nvSpPr>
        <p:spPr>
          <a:xfrm>
            <a:off x="3619424" y="3081528"/>
            <a:ext cx="2110664" cy="594360"/>
          </a:xfrm>
          <a:prstGeom prst="rect">
            <a:avLst/>
          </a:prstGeom>
          <a:noFill/>
          <a:ln/>
        </p:spPr>
        <p:txBody>
          <a:bodyPr wrap="square" lIns="0" tIns="0" rIns="0" bIns="0" rtlCol="0" anchor="t"/>
          <a:lstStyle/>
          <a:p>
            <a:pPr indent="0" marL="0">
              <a:buNone/>
            </a:pPr>
            <a:r>
              <a:rPr lang="en-US" sz="1400" dirty="0">
                <a:solidFill>
                  <a:schemeClr val="accent4"/>
                </a:solidFill>
              </a:rPr>
              <a:t>85% of fraud happens 10 PM to 4 AM</a:t>
            </a:r>
            <a:endParaRPr lang="en-US" sz="1400" dirty="0"/>
          </a:p>
        </p:txBody>
      </p:sp>
      <p:sp>
        <p:nvSpPr>
          <p:cNvPr id="14" name="Feature card 3"/>
          <p:cNvSpPr/>
          <p:nvPr/>
        </p:nvSpPr>
        <p:spPr>
          <a:xfrm>
            <a:off x="6233008" y="1783080"/>
            <a:ext cx="2567864"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15" name="Day of week tile"/>
          <p:cNvSpPr/>
          <p:nvPr/>
        </p:nvSpPr>
        <p:spPr>
          <a:xfrm>
            <a:off x="6461608" y="2011680"/>
            <a:ext cx="548640" cy="548640"/>
          </a:xfrm>
          <a:prstGeom prst="roundRect">
            <a:avLst>
              <a:gd name="adj" fmla="val 16667"/>
            </a:avLst>
          </a:prstGeom>
          <a:solidFill>
            <a:schemeClr val="accent1">
              <a:alpha val="12000"/>
            </a:schemeClr>
          </a:solidFill>
          <a:ln/>
        </p:spPr>
      </p:sp>
      <p:pic>
        <p:nvPicPr>
          <p:cNvPr id="16" name="Day of week icon" descr="preencoded.png">    </p:cNvPr>
          <p:cNvPicPr>
            <a:picLocks noChangeAspect="1"/>
          </p:cNvPicPr>
          <p:nvPr/>
        </p:nvPicPr>
        <p:blipFill>
          <a:blip r:embed="rId3"/>
          <a:stretch>
            <a:fillRect/>
          </a:stretch>
        </p:blipFill>
        <p:spPr>
          <a:xfrm>
            <a:off x="6593281" y="2143354"/>
            <a:ext cx="285293" cy="285293"/>
          </a:xfrm>
          <a:prstGeom prst="rect">
            <a:avLst/>
          </a:prstGeom>
        </p:spPr>
      </p:pic>
      <p:sp>
        <p:nvSpPr>
          <p:cNvPr id="17" name="Day of week name"/>
          <p:cNvSpPr txBox="1"/>
          <p:nvPr/>
        </p:nvSpPr>
        <p:spPr>
          <a:xfrm>
            <a:off x="6461608" y="2697480"/>
            <a:ext cx="2110664" cy="365760"/>
          </a:xfrm>
          <a:prstGeom prst="rect">
            <a:avLst/>
          </a:prstGeom>
          <a:noFill/>
          <a:ln/>
        </p:spPr>
        <p:txBody>
          <a:bodyPr wrap="square" lIns="0" tIns="0" rIns="0" bIns="0" rtlCol="0" anchor="ctr"/>
          <a:lstStyle/>
          <a:p>
            <a:pPr indent="0" marL="0">
              <a:buNone/>
            </a:pPr>
            <a:r>
              <a:rPr lang="en-US" sz="1700" b="1" dirty="0">
                <a:solidFill>
                  <a:schemeClr val="tx1"/>
                </a:solidFill>
              </a:rPr>
              <a:t>Day of week</a:t>
            </a:r>
            <a:endParaRPr lang="en-US" sz="1700" dirty="0"/>
          </a:p>
        </p:txBody>
      </p:sp>
      <p:sp>
        <p:nvSpPr>
          <p:cNvPr id="18" name="Day of week why"/>
          <p:cNvSpPr txBox="1"/>
          <p:nvPr/>
        </p:nvSpPr>
        <p:spPr>
          <a:xfrm>
            <a:off x="6461608" y="3081528"/>
            <a:ext cx="2110664" cy="594360"/>
          </a:xfrm>
          <a:prstGeom prst="rect">
            <a:avLst/>
          </a:prstGeom>
          <a:noFill/>
          <a:ln/>
        </p:spPr>
        <p:txBody>
          <a:bodyPr wrap="square" lIns="0" tIns="0" rIns="0" bIns="0" rtlCol="0" anchor="t"/>
          <a:lstStyle/>
          <a:p>
            <a:pPr indent="0" marL="0">
              <a:buNone/>
            </a:pPr>
            <a:r>
              <a:rPr lang="en-US" sz="1400" dirty="0">
                <a:solidFill>
                  <a:schemeClr val="accent4"/>
                </a:solidFill>
              </a:rPr>
              <a:t>Captures weekly spending patterns</a:t>
            </a:r>
            <a:endParaRPr lang="en-US" sz="1400" dirty="0"/>
          </a:p>
        </p:txBody>
      </p:sp>
      <p:sp>
        <p:nvSpPr>
          <p:cNvPr id="19" name="Feature card 4"/>
          <p:cNvSpPr/>
          <p:nvPr/>
        </p:nvSpPr>
        <p:spPr>
          <a:xfrm>
            <a:off x="9075191" y="1783080"/>
            <a:ext cx="2567864"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20" name="Cardholder age tile"/>
          <p:cNvSpPr/>
          <p:nvPr/>
        </p:nvSpPr>
        <p:spPr>
          <a:xfrm>
            <a:off x="9303791" y="2011680"/>
            <a:ext cx="548640" cy="548640"/>
          </a:xfrm>
          <a:prstGeom prst="roundRect">
            <a:avLst>
              <a:gd name="adj" fmla="val 16667"/>
            </a:avLst>
          </a:prstGeom>
          <a:solidFill>
            <a:schemeClr val="accent1">
              <a:alpha val="12000"/>
            </a:schemeClr>
          </a:solidFill>
          <a:ln/>
        </p:spPr>
      </p:sp>
      <p:pic>
        <p:nvPicPr>
          <p:cNvPr id="21" name="Cardholder age icon" descr="preencoded.png">    </p:cNvPr>
          <p:cNvPicPr>
            <a:picLocks noChangeAspect="1"/>
          </p:cNvPicPr>
          <p:nvPr/>
        </p:nvPicPr>
        <p:blipFill>
          <a:blip r:embed="rId4"/>
          <a:stretch>
            <a:fillRect/>
          </a:stretch>
        </p:blipFill>
        <p:spPr>
          <a:xfrm>
            <a:off x="9435465" y="2143354"/>
            <a:ext cx="285293" cy="285293"/>
          </a:xfrm>
          <a:prstGeom prst="rect">
            <a:avLst/>
          </a:prstGeom>
        </p:spPr>
      </p:pic>
      <p:sp>
        <p:nvSpPr>
          <p:cNvPr id="22" name="Cardholder age name"/>
          <p:cNvSpPr txBox="1"/>
          <p:nvPr/>
        </p:nvSpPr>
        <p:spPr>
          <a:xfrm>
            <a:off x="9303791" y="2697480"/>
            <a:ext cx="2110664" cy="365760"/>
          </a:xfrm>
          <a:prstGeom prst="rect">
            <a:avLst/>
          </a:prstGeom>
          <a:noFill/>
          <a:ln/>
        </p:spPr>
        <p:txBody>
          <a:bodyPr wrap="square" lIns="0" tIns="0" rIns="0" bIns="0" rtlCol="0" anchor="ctr"/>
          <a:lstStyle/>
          <a:p>
            <a:pPr indent="0" marL="0">
              <a:buNone/>
            </a:pPr>
            <a:r>
              <a:rPr lang="en-US" sz="1700" b="1" dirty="0">
                <a:solidFill>
                  <a:schemeClr val="tx1"/>
                </a:solidFill>
              </a:rPr>
              <a:t>Cardholder age</a:t>
            </a:r>
            <a:endParaRPr lang="en-US" sz="1700" dirty="0"/>
          </a:p>
        </p:txBody>
      </p:sp>
      <p:sp>
        <p:nvSpPr>
          <p:cNvPr id="23" name="Cardholder age why"/>
          <p:cNvSpPr txBox="1"/>
          <p:nvPr/>
        </p:nvSpPr>
        <p:spPr>
          <a:xfrm>
            <a:off x="9303791" y="3081528"/>
            <a:ext cx="2110664" cy="594360"/>
          </a:xfrm>
          <a:prstGeom prst="rect">
            <a:avLst/>
          </a:prstGeom>
          <a:noFill/>
          <a:ln/>
        </p:spPr>
        <p:txBody>
          <a:bodyPr wrap="square" lIns="0" tIns="0" rIns="0" bIns="0" rtlCol="0" anchor="t"/>
          <a:lstStyle/>
          <a:p>
            <a:pPr indent="0" marL="0">
              <a:buNone/>
            </a:pPr>
            <a:r>
              <a:rPr lang="en-US" sz="1400" dirty="0">
                <a:solidFill>
                  <a:schemeClr val="accent4"/>
                </a:solidFill>
              </a:rPr>
              <a:t>Some age groups are targeted more</a:t>
            </a:r>
            <a:endParaRPr lang="en-US" sz="1400" dirty="0"/>
          </a:p>
        </p:txBody>
      </p:sp>
      <p:sp>
        <p:nvSpPr>
          <p:cNvPr id="24" name="Feature card 5"/>
          <p:cNvSpPr/>
          <p:nvPr/>
        </p:nvSpPr>
        <p:spPr>
          <a:xfrm>
            <a:off x="548640" y="4069080"/>
            <a:ext cx="2567864"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25" name="Transactions in 24h tile"/>
          <p:cNvSpPr/>
          <p:nvPr/>
        </p:nvSpPr>
        <p:spPr>
          <a:xfrm>
            <a:off x="777240" y="4297680"/>
            <a:ext cx="548640" cy="548640"/>
          </a:xfrm>
          <a:prstGeom prst="roundRect">
            <a:avLst>
              <a:gd name="adj" fmla="val 16667"/>
            </a:avLst>
          </a:prstGeom>
          <a:solidFill>
            <a:schemeClr val="accent1">
              <a:alpha val="12000"/>
            </a:schemeClr>
          </a:solidFill>
          <a:ln/>
        </p:spPr>
      </p:sp>
      <p:pic>
        <p:nvPicPr>
          <p:cNvPr id="26" name="Transactions in 24h icon" descr="preencoded.png">    </p:cNvPr>
          <p:cNvPicPr>
            <a:picLocks noChangeAspect="1"/>
          </p:cNvPicPr>
          <p:nvPr/>
        </p:nvPicPr>
        <p:blipFill>
          <a:blip r:embed="rId5"/>
          <a:stretch>
            <a:fillRect/>
          </a:stretch>
        </p:blipFill>
        <p:spPr>
          <a:xfrm>
            <a:off x="908914" y="4429354"/>
            <a:ext cx="285293" cy="285293"/>
          </a:xfrm>
          <a:prstGeom prst="rect">
            <a:avLst/>
          </a:prstGeom>
        </p:spPr>
      </p:pic>
      <p:sp>
        <p:nvSpPr>
          <p:cNvPr id="27" name="Transactions in 24h name"/>
          <p:cNvSpPr txBox="1"/>
          <p:nvPr/>
        </p:nvSpPr>
        <p:spPr>
          <a:xfrm>
            <a:off x="777240" y="4983480"/>
            <a:ext cx="2110664" cy="365760"/>
          </a:xfrm>
          <a:prstGeom prst="rect">
            <a:avLst/>
          </a:prstGeom>
          <a:noFill/>
          <a:ln/>
        </p:spPr>
        <p:txBody>
          <a:bodyPr wrap="square" lIns="0" tIns="0" rIns="0" bIns="0" rtlCol="0" anchor="ctr"/>
          <a:lstStyle/>
          <a:p>
            <a:pPr indent="0" marL="0">
              <a:buNone/>
            </a:pPr>
            <a:r>
              <a:rPr lang="en-US" sz="1700" b="1" dirty="0">
                <a:solidFill>
                  <a:schemeClr val="tx1"/>
                </a:solidFill>
              </a:rPr>
              <a:t>Transactions in 24h</a:t>
            </a:r>
            <a:endParaRPr lang="en-US" sz="1700" dirty="0"/>
          </a:p>
        </p:txBody>
      </p:sp>
      <p:sp>
        <p:nvSpPr>
          <p:cNvPr id="28" name="Transactions in 24h why"/>
          <p:cNvSpPr txBox="1"/>
          <p:nvPr/>
        </p:nvSpPr>
        <p:spPr>
          <a:xfrm>
            <a:off x="777240" y="5367528"/>
            <a:ext cx="2110664" cy="594360"/>
          </a:xfrm>
          <a:prstGeom prst="rect">
            <a:avLst/>
          </a:prstGeom>
          <a:noFill/>
          <a:ln/>
        </p:spPr>
        <p:txBody>
          <a:bodyPr wrap="square" lIns="0" tIns="0" rIns="0" bIns="0" rtlCol="0" anchor="t"/>
          <a:lstStyle/>
          <a:p>
            <a:pPr indent="0" marL="0">
              <a:buNone/>
            </a:pPr>
            <a:r>
              <a:rPr lang="en-US" sz="1400" dirty="0">
                <a:solidFill>
                  <a:schemeClr val="accent4"/>
                </a:solidFill>
              </a:rPr>
              <a:t>Fraudsters use a card many times fast</a:t>
            </a:r>
            <a:endParaRPr lang="en-US" sz="1400" dirty="0"/>
          </a:p>
        </p:txBody>
      </p:sp>
      <p:sp>
        <p:nvSpPr>
          <p:cNvPr id="29" name="Feature card 6"/>
          <p:cNvSpPr/>
          <p:nvPr/>
        </p:nvSpPr>
        <p:spPr>
          <a:xfrm>
            <a:off x="3390824" y="4069080"/>
            <a:ext cx="2567864"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30" name="Hours since last tile"/>
          <p:cNvSpPr/>
          <p:nvPr/>
        </p:nvSpPr>
        <p:spPr>
          <a:xfrm>
            <a:off x="3619424" y="4297680"/>
            <a:ext cx="548640" cy="548640"/>
          </a:xfrm>
          <a:prstGeom prst="roundRect">
            <a:avLst>
              <a:gd name="adj" fmla="val 16667"/>
            </a:avLst>
          </a:prstGeom>
          <a:solidFill>
            <a:schemeClr val="accent1">
              <a:alpha val="12000"/>
            </a:schemeClr>
          </a:solidFill>
          <a:ln/>
        </p:spPr>
      </p:sp>
      <p:pic>
        <p:nvPicPr>
          <p:cNvPr id="31" name="Hours since last icon" descr="preencoded.png">    </p:cNvPr>
          <p:cNvPicPr>
            <a:picLocks noChangeAspect="1"/>
          </p:cNvPicPr>
          <p:nvPr/>
        </p:nvPicPr>
        <p:blipFill>
          <a:blip r:embed="rId6"/>
          <a:stretch>
            <a:fillRect/>
          </a:stretch>
        </p:blipFill>
        <p:spPr>
          <a:xfrm>
            <a:off x="3751097" y="4429354"/>
            <a:ext cx="285293" cy="285293"/>
          </a:xfrm>
          <a:prstGeom prst="rect">
            <a:avLst/>
          </a:prstGeom>
        </p:spPr>
      </p:pic>
      <p:sp>
        <p:nvSpPr>
          <p:cNvPr id="32" name="Hours since last name"/>
          <p:cNvSpPr txBox="1"/>
          <p:nvPr/>
        </p:nvSpPr>
        <p:spPr>
          <a:xfrm>
            <a:off x="3619424" y="4983480"/>
            <a:ext cx="2110664" cy="365760"/>
          </a:xfrm>
          <a:prstGeom prst="rect">
            <a:avLst/>
          </a:prstGeom>
          <a:noFill/>
          <a:ln/>
        </p:spPr>
        <p:txBody>
          <a:bodyPr wrap="square" lIns="0" tIns="0" rIns="0" bIns="0" rtlCol="0" anchor="ctr"/>
          <a:lstStyle/>
          <a:p>
            <a:pPr indent="0" marL="0">
              <a:buNone/>
            </a:pPr>
            <a:r>
              <a:rPr lang="en-US" sz="1700" b="1" dirty="0">
                <a:solidFill>
                  <a:schemeClr val="tx1"/>
                </a:solidFill>
              </a:rPr>
              <a:t>Hours since last</a:t>
            </a:r>
            <a:endParaRPr lang="en-US" sz="1700" dirty="0"/>
          </a:p>
        </p:txBody>
      </p:sp>
      <p:sp>
        <p:nvSpPr>
          <p:cNvPr id="33" name="Hours since last why"/>
          <p:cNvSpPr txBox="1"/>
          <p:nvPr/>
        </p:nvSpPr>
        <p:spPr>
          <a:xfrm>
            <a:off x="3619424" y="5367528"/>
            <a:ext cx="2110664" cy="594360"/>
          </a:xfrm>
          <a:prstGeom prst="rect">
            <a:avLst/>
          </a:prstGeom>
          <a:noFill/>
          <a:ln/>
        </p:spPr>
        <p:txBody>
          <a:bodyPr wrap="square" lIns="0" tIns="0" rIns="0" bIns="0" rtlCol="0" anchor="t"/>
          <a:lstStyle/>
          <a:p>
            <a:pPr indent="0" marL="0">
              <a:buNone/>
            </a:pPr>
            <a:r>
              <a:rPr lang="en-US" sz="1400" dirty="0">
                <a:solidFill>
                  <a:schemeClr val="accent4"/>
                </a:solidFill>
              </a:rPr>
              <a:t>Very short gaps are a warning sign</a:t>
            </a:r>
            <a:endParaRPr lang="en-US" sz="1400" dirty="0"/>
          </a:p>
        </p:txBody>
      </p:sp>
      <p:sp>
        <p:nvSpPr>
          <p:cNvPr id="34" name="Feature card 7"/>
          <p:cNvSpPr/>
          <p:nvPr/>
        </p:nvSpPr>
        <p:spPr>
          <a:xfrm>
            <a:off x="6233008" y="4069080"/>
            <a:ext cx="2567864"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35" name="Spend vs usual tile"/>
          <p:cNvSpPr/>
          <p:nvPr/>
        </p:nvSpPr>
        <p:spPr>
          <a:xfrm>
            <a:off x="6461608" y="4297680"/>
            <a:ext cx="548640" cy="548640"/>
          </a:xfrm>
          <a:prstGeom prst="roundRect">
            <a:avLst>
              <a:gd name="adj" fmla="val 16667"/>
            </a:avLst>
          </a:prstGeom>
          <a:solidFill>
            <a:schemeClr val="accent1">
              <a:alpha val="12000"/>
            </a:schemeClr>
          </a:solidFill>
          <a:ln/>
        </p:spPr>
      </p:sp>
      <p:pic>
        <p:nvPicPr>
          <p:cNvPr id="36" name="Spend vs usual icon" descr="preencoded.png">    </p:cNvPr>
          <p:cNvPicPr>
            <a:picLocks noChangeAspect="1"/>
          </p:cNvPicPr>
          <p:nvPr/>
        </p:nvPicPr>
        <p:blipFill>
          <a:blip r:embed="rId7"/>
          <a:stretch>
            <a:fillRect/>
          </a:stretch>
        </p:blipFill>
        <p:spPr>
          <a:xfrm>
            <a:off x="6593281" y="4429354"/>
            <a:ext cx="285293" cy="285293"/>
          </a:xfrm>
          <a:prstGeom prst="rect">
            <a:avLst/>
          </a:prstGeom>
        </p:spPr>
      </p:pic>
      <p:sp>
        <p:nvSpPr>
          <p:cNvPr id="37" name="Spend vs usual name"/>
          <p:cNvSpPr txBox="1"/>
          <p:nvPr/>
        </p:nvSpPr>
        <p:spPr>
          <a:xfrm>
            <a:off x="6461608" y="4983480"/>
            <a:ext cx="2110664" cy="365760"/>
          </a:xfrm>
          <a:prstGeom prst="rect">
            <a:avLst/>
          </a:prstGeom>
          <a:noFill/>
          <a:ln/>
        </p:spPr>
        <p:txBody>
          <a:bodyPr wrap="square" lIns="0" tIns="0" rIns="0" bIns="0" rtlCol="0" anchor="ctr"/>
          <a:lstStyle/>
          <a:p>
            <a:pPr indent="0" marL="0">
              <a:buNone/>
            </a:pPr>
            <a:r>
              <a:rPr lang="en-US" sz="1700" b="1" dirty="0">
                <a:solidFill>
                  <a:schemeClr val="tx1"/>
                </a:solidFill>
              </a:rPr>
              <a:t>Spend vs usual</a:t>
            </a:r>
            <a:endParaRPr lang="en-US" sz="1700" dirty="0"/>
          </a:p>
        </p:txBody>
      </p:sp>
      <p:sp>
        <p:nvSpPr>
          <p:cNvPr id="38" name="Spend vs usual why"/>
          <p:cNvSpPr txBox="1"/>
          <p:nvPr/>
        </p:nvSpPr>
        <p:spPr>
          <a:xfrm>
            <a:off x="6461608" y="5367528"/>
            <a:ext cx="2110664" cy="594360"/>
          </a:xfrm>
          <a:prstGeom prst="rect">
            <a:avLst/>
          </a:prstGeom>
          <a:noFill/>
          <a:ln/>
        </p:spPr>
        <p:txBody>
          <a:bodyPr wrap="square" lIns="0" tIns="0" rIns="0" bIns="0" rtlCol="0" anchor="t"/>
          <a:lstStyle/>
          <a:p>
            <a:pPr indent="0" marL="0">
              <a:buNone/>
            </a:pPr>
            <a:r>
              <a:rPr lang="en-US" sz="1400" dirty="0">
                <a:solidFill>
                  <a:schemeClr val="accent4"/>
                </a:solidFill>
              </a:rPr>
              <a:t>Fraud is 5.2x the card's usual amount</a:t>
            </a:r>
            <a:endParaRPr lang="en-US" sz="1400" dirty="0"/>
          </a:p>
        </p:txBody>
      </p:sp>
      <p:sp>
        <p:nvSpPr>
          <p:cNvPr id="39" name="Feature card 8"/>
          <p:cNvSpPr/>
          <p:nvPr/>
        </p:nvSpPr>
        <p:spPr>
          <a:xfrm>
            <a:off x="9075191" y="4069080"/>
            <a:ext cx="2567864"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40" name="Merchant category tile"/>
          <p:cNvSpPr/>
          <p:nvPr/>
        </p:nvSpPr>
        <p:spPr>
          <a:xfrm>
            <a:off x="9303791" y="4297680"/>
            <a:ext cx="548640" cy="548640"/>
          </a:xfrm>
          <a:prstGeom prst="roundRect">
            <a:avLst>
              <a:gd name="adj" fmla="val 16667"/>
            </a:avLst>
          </a:prstGeom>
          <a:solidFill>
            <a:schemeClr val="accent1">
              <a:alpha val="12000"/>
            </a:schemeClr>
          </a:solidFill>
          <a:ln/>
        </p:spPr>
      </p:sp>
      <p:pic>
        <p:nvPicPr>
          <p:cNvPr id="41" name="Merchant category icon" descr="preencoded.png">    </p:cNvPr>
          <p:cNvPicPr>
            <a:picLocks noChangeAspect="1"/>
          </p:cNvPicPr>
          <p:nvPr/>
        </p:nvPicPr>
        <p:blipFill>
          <a:blip r:embed="rId8"/>
          <a:stretch>
            <a:fillRect/>
          </a:stretch>
        </p:blipFill>
        <p:spPr>
          <a:xfrm>
            <a:off x="9435465" y="4429354"/>
            <a:ext cx="285293" cy="285293"/>
          </a:xfrm>
          <a:prstGeom prst="rect">
            <a:avLst/>
          </a:prstGeom>
        </p:spPr>
      </p:pic>
      <p:sp>
        <p:nvSpPr>
          <p:cNvPr id="42" name="Merchant category name"/>
          <p:cNvSpPr txBox="1"/>
          <p:nvPr/>
        </p:nvSpPr>
        <p:spPr>
          <a:xfrm>
            <a:off x="9303791" y="4983480"/>
            <a:ext cx="2110664" cy="365760"/>
          </a:xfrm>
          <a:prstGeom prst="rect">
            <a:avLst/>
          </a:prstGeom>
          <a:noFill/>
          <a:ln/>
        </p:spPr>
        <p:txBody>
          <a:bodyPr wrap="square" lIns="0" tIns="0" rIns="0" bIns="0" rtlCol="0" anchor="ctr"/>
          <a:lstStyle/>
          <a:p>
            <a:pPr indent="0" marL="0">
              <a:buNone/>
            </a:pPr>
            <a:r>
              <a:rPr lang="en-US" sz="1700" b="1" dirty="0">
                <a:solidFill>
                  <a:schemeClr val="tx1"/>
                </a:solidFill>
              </a:rPr>
              <a:t>Merchant category</a:t>
            </a:r>
            <a:endParaRPr lang="en-US" sz="1700" dirty="0"/>
          </a:p>
        </p:txBody>
      </p:sp>
      <p:sp>
        <p:nvSpPr>
          <p:cNvPr id="43" name="Merchant category why"/>
          <p:cNvSpPr txBox="1"/>
          <p:nvPr/>
        </p:nvSpPr>
        <p:spPr>
          <a:xfrm>
            <a:off x="9303791" y="5367528"/>
            <a:ext cx="2110664" cy="594360"/>
          </a:xfrm>
          <a:prstGeom prst="rect">
            <a:avLst/>
          </a:prstGeom>
          <a:noFill/>
          <a:ln/>
        </p:spPr>
        <p:txBody>
          <a:bodyPr wrap="square" lIns="0" tIns="0" rIns="0" bIns="0" rtlCol="0" anchor="t"/>
          <a:lstStyle/>
          <a:p>
            <a:pPr indent="0" marL="0">
              <a:buNone/>
            </a:pPr>
            <a:r>
              <a:rPr lang="en-US" sz="1400" dirty="0">
                <a:solidFill>
                  <a:schemeClr val="accent4"/>
                </a:solidFill>
              </a:rPr>
              <a:t>Some categories carry far more risk</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Model Comparison</a:t>
            </a:r>
            <a:endParaRPr lang="en-US" sz="3200" dirty="0"/>
          </a:p>
        </p:txBody>
      </p:sp>
      <p:graphicFrame>
        <p:nvGraphicFramePr>
          <p:cNvPr id="3" name="Model comparison chart" descr=""/>
          <p:cNvGraphicFramePr/>
          <p:nvPr/>
        </p:nvGraphicFramePr>
        <p:xfrm>
          <a:off x="548640" y="1234440"/>
          <a:ext cx="7223760" cy="4892040"/>
        </p:xfrm>
        <a:graphic xmlns:a="http://schemas.openxmlformats.org/drawingml/2006/main">
          <a:graphicData uri="http://schemas.openxmlformats.org/drawingml/2006/chart">
            <c:chart xmlns:c="http://schemas.openxmlformats.org/drawingml/2006/chart" r:id="rId1"/>
          </a:graphicData>
        </a:graphic>
      </p:graphicFrame>
      <p:sp>
        <p:nvSpPr>
          <p:cNvPr id="4" name="Rank head"/>
          <p:cNvSpPr txBox="1"/>
          <p:nvPr/>
        </p:nvSpPr>
        <p:spPr>
          <a:xfrm>
            <a:off x="8092440" y="1280160"/>
            <a:ext cx="3550615" cy="365760"/>
          </a:xfrm>
          <a:prstGeom prst="rect">
            <a:avLst/>
          </a:prstGeom>
          <a:noFill/>
          <a:ln/>
        </p:spPr>
        <p:txBody>
          <a:bodyPr wrap="square" lIns="0" tIns="0" rIns="0" bIns="0" rtlCol="0" anchor="ctr"/>
          <a:lstStyle/>
          <a:p>
            <a:pPr indent="0" marL="0">
              <a:buNone/>
            </a:pPr>
            <a:r>
              <a:rPr lang="en-US" sz="1800" b="1" dirty="0">
                <a:solidFill>
                  <a:schemeClr val="tx1"/>
                </a:solidFill>
              </a:rPr>
              <a:t>Ranked by PR-AUC</a:t>
            </a:r>
            <a:endParaRPr lang="en-US" sz="1800" dirty="0"/>
          </a:p>
        </p:txBody>
      </p:sp>
      <p:sp>
        <p:nvSpPr>
          <p:cNvPr id="5" name="XGBoost row"/>
          <p:cNvSpPr/>
          <p:nvPr/>
        </p:nvSpPr>
        <p:spPr>
          <a:xfrm>
            <a:off x="8092440" y="1783080"/>
            <a:ext cx="3550615" cy="713232"/>
          </a:xfrm>
          <a:prstGeom prst="roundRect">
            <a:avLst>
              <a:gd name="adj" fmla="val 12821"/>
            </a:avLst>
          </a:prstGeom>
          <a:solidFill>
            <a:schemeClr val="accent1">
              <a:alpha val="12000"/>
            </a:schemeClr>
          </a:solidFill>
          <a:ln/>
        </p:spPr>
      </p:sp>
      <p:sp>
        <p:nvSpPr>
          <p:cNvPr id="6" name="XGBoost rank badge"/>
          <p:cNvSpPr/>
          <p:nvPr/>
        </p:nvSpPr>
        <p:spPr>
          <a:xfrm>
            <a:off x="8257032" y="1938528"/>
            <a:ext cx="402336" cy="402336"/>
          </a:xfrm>
          <a:prstGeom prst="ellipse">
            <a:avLst/>
          </a:prstGeom>
          <a:solidFill>
            <a:schemeClr val="accent1"/>
          </a:solidFill>
          <a:ln/>
        </p:spPr>
      </p:sp>
      <p:sp>
        <p:nvSpPr>
          <p:cNvPr id="7" name="XGBoost rank"/>
          <p:cNvSpPr txBox="1"/>
          <p:nvPr/>
        </p:nvSpPr>
        <p:spPr>
          <a:xfrm>
            <a:off x="8257032" y="1938528"/>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XGBoost name"/>
          <p:cNvSpPr txBox="1"/>
          <p:nvPr/>
        </p:nvSpPr>
        <p:spPr>
          <a:xfrm>
            <a:off x="8805672" y="1856232"/>
            <a:ext cx="1920240" cy="566928"/>
          </a:xfrm>
          <a:prstGeom prst="rect">
            <a:avLst/>
          </a:prstGeom>
          <a:noFill/>
          <a:ln/>
        </p:spPr>
        <p:txBody>
          <a:bodyPr wrap="square" lIns="0" tIns="0" rIns="0" bIns="0" rtlCol="0" anchor="ctr"/>
          <a:lstStyle/>
          <a:p>
            <a:pPr indent="0" marL="0">
              <a:buNone/>
            </a:pPr>
            <a:r>
              <a:rPr lang="en-US" sz="1500" b="1" dirty="0">
                <a:solidFill>
                  <a:schemeClr val="tx1"/>
                </a:solidFill>
              </a:rPr>
              <a:t>XGBoost</a:t>
            </a:r>
            <a:endParaRPr lang="en-US" sz="1500" dirty="0"/>
          </a:p>
          <a:p>
            <a:pPr indent="0" marL="0">
              <a:buNone/>
            </a:pPr>
            <a:r>
              <a:rPr lang="en-US" sz="1200" dirty="0">
                <a:solidFill>
                  <a:schemeClr val="accent4"/>
                </a:solidFill>
              </a:rPr>
              <a:t>trained in 24.5s</a:t>
            </a:r>
            <a:endParaRPr lang="en-US" sz="1500" dirty="0"/>
          </a:p>
        </p:txBody>
      </p:sp>
      <p:sp>
        <p:nvSpPr>
          <p:cNvPr id="9" name="XGBoost score"/>
          <p:cNvSpPr txBox="1"/>
          <p:nvPr/>
        </p:nvSpPr>
        <p:spPr>
          <a:xfrm>
            <a:off x="10682935" y="1783080"/>
            <a:ext cx="777240" cy="713232"/>
          </a:xfrm>
          <a:prstGeom prst="rect">
            <a:avLst/>
          </a:prstGeom>
          <a:noFill/>
          <a:ln/>
        </p:spPr>
        <p:txBody>
          <a:bodyPr wrap="square" lIns="0" tIns="0" rIns="0" bIns="0" rtlCol="0" anchor="ctr"/>
          <a:lstStyle/>
          <a:p>
            <a:pPr algn="r" indent="0" marL="0">
              <a:buNone/>
            </a:pPr>
            <a:r>
              <a:rPr lang="en-US" sz="1800" b="1" dirty="0">
                <a:solidFill>
                  <a:schemeClr val="accent1"/>
                </a:solidFill>
              </a:rPr>
              <a:t>0.950</a:t>
            </a:r>
            <a:endParaRPr lang="en-US" sz="1800" dirty="0"/>
          </a:p>
        </p:txBody>
      </p:sp>
      <p:sp>
        <p:nvSpPr>
          <p:cNvPr id="10" name="Random Forest row"/>
          <p:cNvSpPr/>
          <p:nvPr/>
        </p:nvSpPr>
        <p:spPr>
          <a:xfrm>
            <a:off x="8092440" y="2624328"/>
            <a:ext cx="3550615" cy="713232"/>
          </a:xfrm>
          <a:prstGeom prst="roundRect">
            <a:avLst>
              <a:gd name="adj" fmla="val 12821"/>
            </a:avLst>
          </a:prstGeom>
          <a:solidFill>
            <a:schemeClr val="bg2"/>
          </a:solidFill>
          <a:ln/>
        </p:spPr>
      </p:sp>
      <p:sp>
        <p:nvSpPr>
          <p:cNvPr id="11" name="Random Forest rank badge"/>
          <p:cNvSpPr/>
          <p:nvPr/>
        </p:nvSpPr>
        <p:spPr>
          <a:xfrm>
            <a:off x="8257032" y="2779776"/>
            <a:ext cx="402336" cy="402336"/>
          </a:xfrm>
          <a:prstGeom prst="ellipse">
            <a:avLst/>
          </a:prstGeom>
          <a:solidFill>
            <a:schemeClr val="accent6"/>
          </a:solidFill>
          <a:ln/>
        </p:spPr>
      </p:sp>
      <p:sp>
        <p:nvSpPr>
          <p:cNvPr id="12" name="Random Forest rank"/>
          <p:cNvSpPr txBox="1"/>
          <p:nvPr/>
        </p:nvSpPr>
        <p:spPr>
          <a:xfrm>
            <a:off x="8257032" y="277977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Random Forest name"/>
          <p:cNvSpPr txBox="1"/>
          <p:nvPr/>
        </p:nvSpPr>
        <p:spPr>
          <a:xfrm>
            <a:off x="8805672" y="2697480"/>
            <a:ext cx="1920240" cy="566928"/>
          </a:xfrm>
          <a:prstGeom prst="rect">
            <a:avLst/>
          </a:prstGeom>
          <a:noFill/>
          <a:ln/>
        </p:spPr>
        <p:txBody>
          <a:bodyPr wrap="square" lIns="0" tIns="0" rIns="0" bIns="0" rtlCol="0" anchor="ctr"/>
          <a:lstStyle/>
          <a:p>
            <a:pPr indent="0" marL="0">
              <a:buNone/>
            </a:pPr>
            <a:r>
              <a:rPr lang="en-US" sz="1500" b="1" dirty="0">
                <a:solidFill>
                  <a:schemeClr val="tx1"/>
                </a:solidFill>
              </a:rPr>
              <a:t>Random Forest</a:t>
            </a:r>
            <a:endParaRPr lang="en-US" sz="1500" dirty="0"/>
          </a:p>
          <a:p>
            <a:pPr indent="0" marL="0">
              <a:buNone/>
            </a:pPr>
            <a:r>
              <a:rPr lang="en-US" sz="1200" dirty="0">
                <a:solidFill>
                  <a:schemeClr val="accent4"/>
                </a:solidFill>
              </a:rPr>
              <a:t>trained in 80.3s</a:t>
            </a:r>
            <a:endParaRPr lang="en-US" sz="1500" dirty="0"/>
          </a:p>
        </p:txBody>
      </p:sp>
      <p:sp>
        <p:nvSpPr>
          <p:cNvPr id="14" name="Random Forest score"/>
          <p:cNvSpPr txBox="1"/>
          <p:nvPr/>
        </p:nvSpPr>
        <p:spPr>
          <a:xfrm>
            <a:off x="10682935" y="2624328"/>
            <a:ext cx="777240" cy="713232"/>
          </a:xfrm>
          <a:prstGeom prst="rect">
            <a:avLst/>
          </a:prstGeom>
          <a:noFill/>
          <a:ln/>
        </p:spPr>
        <p:txBody>
          <a:bodyPr wrap="square" lIns="0" tIns="0" rIns="0" bIns="0" rtlCol="0" anchor="ctr"/>
          <a:lstStyle/>
          <a:p>
            <a:pPr algn="r" indent="0" marL="0">
              <a:buNone/>
            </a:pPr>
            <a:r>
              <a:rPr lang="en-US" sz="1800" b="1" dirty="0">
                <a:solidFill>
                  <a:schemeClr val="tx1"/>
                </a:solidFill>
              </a:rPr>
              <a:t>0.881</a:t>
            </a:r>
            <a:endParaRPr lang="en-US" sz="1800" dirty="0"/>
          </a:p>
        </p:txBody>
      </p:sp>
      <p:sp>
        <p:nvSpPr>
          <p:cNvPr id="15" name="Decision Tree row"/>
          <p:cNvSpPr/>
          <p:nvPr/>
        </p:nvSpPr>
        <p:spPr>
          <a:xfrm>
            <a:off x="8092440" y="3465576"/>
            <a:ext cx="3550615" cy="713232"/>
          </a:xfrm>
          <a:prstGeom prst="roundRect">
            <a:avLst>
              <a:gd name="adj" fmla="val 12821"/>
            </a:avLst>
          </a:prstGeom>
          <a:solidFill>
            <a:schemeClr val="bg2"/>
          </a:solidFill>
          <a:ln/>
        </p:spPr>
      </p:sp>
      <p:sp>
        <p:nvSpPr>
          <p:cNvPr id="16" name="Decision Tree rank badge"/>
          <p:cNvSpPr/>
          <p:nvPr/>
        </p:nvSpPr>
        <p:spPr>
          <a:xfrm>
            <a:off x="8257032" y="3621024"/>
            <a:ext cx="402336" cy="402336"/>
          </a:xfrm>
          <a:prstGeom prst="ellipse">
            <a:avLst/>
          </a:prstGeom>
          <a:solidFill>
            <a:schemeClr val="accent6"/>
          </a:solidFill>
          <a:ln/>
        </p:spPr>
      </p:sp>
      <p:sp>
        <p:nvSpPr>
          <p:cNvPr id="17" name="Decision Tree rank"/>
          <p:cNvSpPr txBox="1"/>
          <p:nvPr/>
        </p:nvSpPr>
        <p:spPr>
          <a:xfrm>
            <a:off x="8257032" y="362102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Decision Tree name"/>
          <p:cNvSpPr txBox="1"/>
          <p:nvPr/>
        </p:nvSpPr>
        <p:spPr>
          <a:xfrm>
            <a:off x="8805672" y="3538728"/>
            <a:ext cx="1920240" cy="566928"/>
          </a:xfrm>
          <a:prstGeom prst="rect">
            <a:avLst/>
          </a:prstGeom>
          <a:noFill/>
          <a:ln/>
        </p:spPr>
        <p:txBody>
          <a:bodyPr wrap="square" lIns="0" tIns="0" rIns="0" bIns="0" rtlCol="0" anchor="ctr"/>
          <a:lstStyle/>
          <a:p>
            <a:pPr indent="0" marL="0">
              <a:buNone/>
            </a:pPr>
            <a:r>
              <a:rPr lang="en-US" sz="1500" b="1" dirty="0">
                <a:solidFill>
                  <a:schemeClr val="tx1"/>
                </a:solidFill>
              </a:rPr>
              <a:t>Decision Tree</a:t>
            </a:r>
            <a:endParaRPr lang="en-US" sz="1500" dirty="0"/>
          </a:p>
          <a:p>
            <a:pPr indent="0" marL="0">
              <a:buNone/>
            </a:pPr>
            <a:r>
              <a:rPr lang="en-US" sz="1200" dirty="0">
                <a:solidFill>
                  <a:schemeClr val="accent4"/>
                </a:solidFill>
              </a:rPr>
              <a:t>trained in 15.5s</a:t>
            </a:r>
            <a:endParaRPr lang="en-US" sz="1500" dirty="0"/>
          </a:p>
        </p:txBody>
      </p:sp>
      <p:sp>
        <p:nvSpPr>
          <p:cNvPr id="19" name="Decision Tree score"/>
          <p:cNvSpPr txBox="1"/>
          <p:nvPr/>
        </p:nvSpPr>
        <p:spPr>
          <a:xfrm>
            <a:off x="10682935" y="3465576"/>
            <a:ext cx="777240" cy="713232"/>
          </a:xfrm>
          <a:prstGeom prst="rect">
            <a:avLst/>
          </a:prstGeom>
          <a:noFill/>
          <a:ln/>
        </p:spPr>
        <p:txBody>
          <a:bodyPr wrap="square" lIns="0" tIns="0" rIns="0" bIns="0" rtlCol="0" anchor="ctr"/>
          <a:lstStyle/>
          <a:p>
            <a:pPr algn="r" indent="0" marL="0">
              <a:buNone/>
            </a:pPr>
            <a:r>
              <a:rPr lang="en-US" sz="1800" b="1" dirty="0">
                <a:solidFill>
                  <a:schemeClr val="tx1"/>
                </a:solidFill>
              </a:rPr>
              <a:t>0.506</a:t>
            </a:r>
            <a:endParaRPr lang="en-US" sz="1800" dirty="0"/>
          </a:p>
        </p:txBody>
      </p:sp>
      <p:sp>
        <p:nvSpPr>
          <p:cNvPr id="20" name="Logistic Regression row"/>
          <p:cNvSpPr/>
          <p:nvPr/>
        </p:nvSpPr>
        <p:spPr>
          <a:xfrm>
            <a:off x="8092440" y="4306824"/>
            <a:ext cx="3550615" cy="713232"/>
          </a:xfrm>
          <a:prstGeom prst="roundRect">
            <a:avLst>
              <a:gd name="adj" fmla="val 12821"/>
            </a:avLst>
          </a:prstGeom>
          <a:solidFill>
            <a:schemeClr val="bg2"/>
          </a:solidFill>
          <a:ln/>
        </p:spPr>
      </p:sp>
      <p:sp>
        <p:nvSpPr>
          <p:cNvPr id="21" name="Logistic Regression rank badge"/>
          <p:cNvSpPr/>
          <p:nvPr/>
        </p:nvSpPr>
        <p:spPr>
          <a:xfrm>
            <a:off x="8257032" y="4462272"/>
            <a:ext cx="402336" cy="402336"/>
          </a:xfrm>
          <a:prstGeom prst="ellipse">
            <a:avLst/>
          </a:prstGeom>
          <a:solidFill>
            <a:schemeClr val="accent6"/>
          </a:solidFill>
          <a:ln/>
        </p:spPr>
      </p:sp>
      <p:sp>
        <p:nvSpPr>
          <p:cNvPr id="22" name="Logistic Regression rank"/>
          <p:cNvSpPr txBox="1"/>
          <p:nvPr/>
        </p:nvSpPr>
        <p:spPr>
          <a:xfrm>
            <a:off x="8257032" y="446227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Logistic Regression name"/>
          <p:cNvSpPr txBox="1"/>
          <p:nvPr/>
        </p:nvSpPr>
        <p:spPr>
          <a:xfrm>
            <a:off x="8805672" y="4379976"/>
            <a:ext cx="1920240" cy="566928"/>
          </a:xfrm>
          <a:prstGeom prst="rect">
            <a:avLst/>
          </a:prstGeom>
          <a:noFill/>
          <a:ln/>
        </p:spPr>
        <p:txBody>
          <a:bodyPr wrap="square" lIns="0" tIns="0" rIns="0" bIns="0" rtlCol="0" anchor="ctr"/>
          <a:lstStyle/>
          <a:p>
            <a:pPr indent="0" marL="0">
              <a:buNone/>
            </a:pPr>
            <a:r>
              <a:rPr lang="en-US" sz="1500" b="1" dirty="0">
                <a:solidFill>
                  <a:schemeClr val="tx1"/>
                </a:solidFill>
              </a:rPr>
              <a:t>Logistic Regression</a:t>
            </a:r>
            <a:endParaRPr lang="en-US" sz="1500" dirty="0"/>
          </a:p>
          <a:p>
            <a:pPr indent="0" marL="0">
              <a:buNone/>
            </a:pPr>
            <a:r>
              <a:rPr lang="en-US" sz="1200" dirty="0">
                <a:solidFill>
                  <a:schemeClr val="accent4"/>
                </a:solidFill>
              </a:rPr>
              <a:t>trained in 4.0s</a:t>
            </a:r>
            <a:endParaRPr lang="en-US" sz="1500" dirty="0"/>
          </a:p>
        </p:txBody>
      </p:sp>
      <p:sp>
        <p:nvSpPr>
          <p:cNvPr id="24" name="Logistic Regression score"/>
          <p:cNvSpPr txBox="1"/>
          <p:nvPr/>
        </p:nvSpPr>
        <p:spPr>
          <a:xfrm>
            <a:off x="10682935" y="4306824"/>
            <a:ext cx="777240" cy="713232"/>
          </a:xfrm>
          <a:prstGeom prst="rect">
            <a:avLst/>
          </a:prstGeom>
          <a:noFill/>
          <a:ln/>
        </p:spPr>
        <p:txBody>
          <a:bodyPr wrap="square" lIns="0" tIns="0" rIns="0" bIns="0" rtlCol="0" anchor="ctr"/>
          <a:lstStyle/>
          <a:p>
            <a:pPr algn="r" indent="0" marL="0">
              <a:buNone/>
            </a:pPr>
            <a:r>
              <a:rPr lang="en-US" sz="1800" b="1" dirty="0">
                <a:solidFill>
                  <a:schemeClr val="tx1"/>
                </a:solidFill>
              </a:rPr>
              <a:t>0.252</a:t>
            </a:r>
            <a:endParaRPr lang="en-US" sz="1800" dirty="0"/>
          </a:p>
        </p:txBody>
      </p:sp>
      <p:sp>
        <p:nvSpPr>
          <p:cNvPr id="25" name="Model insight"/>
          <p:cNvSpPr txBox="1"/>
          <p:nvPr/>
        </p:nvSpPr>
        <p:spPr>
          <a:xfrm>
            <a:off x="8092440" y="5257800"/>
            <a:ext cx="3550615" cy="777240"/>
          </a:xfrm>
          <a:prstGeom prst="rect">
            <a:avLst/>
          </a:prstGeom>
          <a:noFill/>
          <a:ln/>
        </p:spPr>
        <p:txBody>
          <a:bodyPr wrap="square" lIns="0" tIns="0" rIns="0" bIns="0" rtlCol="0" anchor="t"/>
          <a:lstStyle/>
          <a:p>
            <a:pPr indent="0" marL="0">
              <a:buNone/>
            </a:pPr>
            <a:r>
              <a:rPr lang="en-US" sz="1500" i="1" dirty="0">
                <a:solidFill>
                  <a:schemeClr val="tx2"/>
                </a:solidFill>
              </a:rPr>
              <a:t>XGBoost wins on PR-AUC and trains 3.3x faster than Random Forest.</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End-to-End Pipeline</a:t>
            </a:r>
            <a:endParaRPr lang="en-US" sz="3200" dirty="0"/>
          </a:p>
        </p:txBody>
      </p:sp>
      <p:sp>
        <p:nvSpPr>
          <p:cNvPr id="3" name="Intro"/>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chemeClr val="accent4"/>
                </a:solidFill>
              </a:rPr>
              <a:t>One command, uv run train.py, runs every step and saves the model.</a:t>
            </a:r>
            <a:endParaRPr lang="en-US" sz="1600" dirty="0"/>
          </a:p>
        </p:txBody>
      </p:sp>
      <p:sp>
        <p:nvSpPr>
          <p:cNvPr id="4" name="Step card 1"/>
          <p:cNvSpPr/>
          <p:nvPr/>
        </p:nvSpPr>
        <p:spPr>
          <a:xfrm>
            <a:off x="548640" y="1783080"/>
            <a:ext cx="1574749" cy="2331720"/>
          </a:xfrm>
          <a:prstGeom prst="roundRect">
            <a:avLst>
              <a:gd name="adj" fmla="val 6968"/>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5" name="Step badge 1"/>
          <p:cNvSpPr/>
          <p:nvPr/>
        </p:nvSpPr>
        <p:spPr>
          <a:xfrm>
            <a:off x="749808" y="2011680"/>
            <a:ext cx="548640" cy="548640"/>
          </a:xfrm>
          <a:prstGeom prst="ellipse">
            <a:avLst/>
          </a:prstGeom>
          <a:solidFill>
            <a:schemeClr val="accent1">
              <a:alpha val="12000"/>
            </a:schemeClr>
          </a:solidFill>
          <a:ln/>
        </p:spPr>
      </p:sp>
      <p:sp>
        <p:nvSpPr>
          <p:cNvPr id="6" name="Step number 1"/>
          <p:cNvSpPr txBox="1"/>
          <p:nvPr/>
        </p:nvSpPr>
        <p:spPr>
          <a:xfrm>
            <a:off x="749808" y="20116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01</a:t>
            </a:r>
            <a:endParaRPr lang="en-US" sz="1500" dirty="0"/>
          </a:p>
        </p:txBody>
      </p:sp>
      <p:sp>
        <p:nvSpPr>
          <p:cNvPr id="7" name="Step name 1"/>
          <p:cNvSpPr txBox="1"/>
          <p:nvPr/>
        </p:nvSpPr>
        <p:spPr>
          <a:xfrm>
            <a:off x="749808" y="2697480"/>
            <a:ext cx="1208989" cy="365760"/>
          </a:xfrm>
          <a:prstGeom prst="rect">
            <a:avLst/>
          </a:prstGeom>
          <a:noFill/>
          <a:ln/>
        </p:spPr>
        <p:txBody>
          <a:bodyPr wrap="square" lIns="0" tIns="0" rIns="0" bIns="0" rtlCol="0" anchor="ctr"/>
          <a:lstStyle/>
          <a:p>
            <a:pPr indent="0" marL="0">
              <a:buNone/>
            </a:pPr>
            <a:r>
              <a:rPr lang="en-US" sz="1700" b="1" dirty="0">
                <a:solidFill>
                  <a:schemeClr val="tx1"/>
                </a:solidFill>
              </a:rPr>
              <a:t>Load data</a:t>
            </a:r>
            <a:endParaRPr lang="en-US" sz="1700" dirty="0"/>
          </a:p>
        </p:txBody>
      </p:sp>
      <p:sp>
        <p:nvSpPr>
          <p:cNvPr id="8" name="Step text 1"/>
          <p:cNvSpPr txBox="1"/>
          <p:nvPr/>
        </p:nvSpPr>
        <p:spPr>
          <a:xfrm>
            <a:off x="749808" y="3081528"/>
            <a:ext cx="1208989" cy="868680"/>
          </a:xfrm>
          <a:prstGeom prst="rect">
            <a:avLst/>
          </a:prstGeom>
          <a:noFill/>
          <a:ln/>
        </p:spPr>
        <p:txBody>
          <a:bodyPr wrap="square" lIns="0" tIns="0" rIns="0" bIns="0" rtlCol="0" anchor="t"/>
          <a:lstStyle/>
          <a:p>
            <a:pPr indent="0" marL="0">
              <a:buNone/>
            </a:pPr>
            <a:r>
              <a:rPr lang="en-US" sz="1400" dirty="0">
                <a:solidFill>
                  <a:schemeClr val="accent4"/>
                </a:solidFill>
              </a:rPr>
              <a:t>1.85M rows from Kaggle</a:t>
            </a:r>
            <a:endParaRPr lang="en-US" sz="1400" dirty="0"/>
          </a:p>
        </p:txBody>
      </p:sp>
      <p:pic>
        <p:nvPicPr>
          <p:cNvPr id="9" name="Arrow 1" descr="preencoded.png">    </p:cNvPr>
          <p:cNvPicPr>
            <a:picLocks noChangeAspect="1"/>
          </p:cNvPicPr>
          <p:nvPr/>
        </p:nvPicPr>
        <p:blipFill>
          <a:blip r:embed="rId1"/>
          <a:stretch>
            <a:fillRect/>
          </a:stretch>
        </p:blipFill>
        <p:spPr>
          <a:xfrm>
            <a:off x="2196541" y="2857500"/>
            <a:ext cx="182880" cy="182880"/>
          </a:xfrm>
          <a:prstGeom prst="rect">
            <a:avLst/>
          </a:prstGeom>
        </p:spPr>
      </p:pic>
      <p:sp>
        <p:nvSpPr>
          <p:cNvPr id="10" name="Step card 2"/>
          <p:cNvSpPr/>
          <p:nvPr/>
        </p:nvSpPr>
        <p:spPr>
          <a:xfrm>
            <a:off x="2452573" y="1783080"/>
            <a:ext cx="1574749" cy="2331720"/>
          </a:xfrm>
          <a:prstGeom prst="roundRect">
            <a:avLst>
              <a:gd name="adj" fmla="val 6968"/>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11" name="Step badge 2"/>
          <p:cNvSpPr/>
          <p:nvPr/>
        </p:nvSpPr>
        <p:spPr>
          <a:xfrm>
            <a:off x="2653741" y="2011680"/>
            <a:ext cx="548640" cy="548640"/>
          </a:xfrm>
          <a:prstGeom prst="ellipse">
            <a:avLst/>
          </a:prstGeom>
          <a:solidFill>
            <a:schemeClr val="accent1">
              <a:alpha val="12000"/>
            </a:schemeClr>
          </a:solidFill>
          <a:ln/>
        </p:spPr>
      </p:sp>
      <p:sp>
        <p:nvSpPr>
          <p:cNvPr id="12" name="Step number 2"/>
          <p:cNvSpPr txBox="1"/>
          <p:nvPr/>
        </p:nvSpPr>
        <p:spPr>
          <a:xfrm>
            <a:off x="2653741" y="20116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02</a:t>
            </a:r>
            <a:endParaRPr lang="en-US" sz="1500" dirty="0"/>
          </a:p>
        </p:txBody>
      </p:sp>
      <p:sp>
        <p:nvSpPr>
          <p:cNvPr id="13" name="Step name 2"/>
          <p:cNvSpPr txBox="1"/>
          <p:nvPr/>
        </p:nvSpPr>
        <p:spPr>
          <a:xfrm>
            <a:off x="2653741" y="2697480"/>
            <a:ext cx="1208989" cy="365760"/>
          </a:xfrm>
          <a:prstGeom prst="rect">
            <a:avLst/>
          </a:prstGeom>
          <a:noFill/>
          <a:ln/>
        </p:spPr>
        <p:txBody>
          <a:bodyPr wrap="square" lIns="0" tIns="0" rIns="0" bIns="0" rtlCol="0" anchor="ctr"/>
          <a:lstStyle/>
          <a:p>
            <a:pPr indent="0" marL="0">
              <a:buNone/>
            </a:pPr>
            <a:r>
              <a:rPr lang="en-US" sz="1700" b="1" dirty="0">
                <a:solidFill>
                  <a:schemeClr val="tx1"/>
                </a:solidFill>
              </a:rPr>
              <a:t>Features</a:t>
            </a:r>
            <a:endParaRPr lang="en-US" sz="1700" dirty="0"/>
          </a:p>
        </p:txBody>
      </p:sp>
      <p:sp>
        <p:nvSpPr>
          <p:cNvPr id="14" name="Step text 2"/>
          <p:cNvSpPr txBox="1"/>
          <p:nvPr/>
        </p:nvSpPr>
        <p:spPr>
          <a:xfrm>
            <a:off x="2653741" y="3081528"/>
            <a:ext cx="1208989" cy="868680"/>
          </a:xfrm>
          <a:prstGeom prst="rect">
            <a:avLst/>
          </a:prstGeom>
          <a:noFill/>
          <a:ln/>
        </p:spPr>
        <p:txBody>
          <a:bodyPr wrap="square" lIns="0" tIns="0" rIns="0" bIns="0" rtlCol="0" anchor="t"/>
          <a:lstStyle/>
          <a:p>
            <a:pPr indent="0" marL="0">
              <a:buNone/>
            </a:pPr>
            <a:r>
              <a:rPr lang="en-US" sz="1400" dirty="0">
                <a:solidFill>
                  <a:schemeClr val="accent4"/>
                </a:solidFill>
              </a:rPr>
              <a:t>8 signals per transaction</a:t>
            </a:r>
            <a:endParaRPr lang="en-US" sz="1400" dirty="0"/>
          </a:p>
        </p:txBody>
      </p:sp>
      <p:pic>
        <p:nvPicPr>
          <p:cNvPr id="15" name="Arrow 2" descr="preencoded.png">    </p:cNvPr>
          <p:cNvPicPr>
            <a:picLocks noChangeAspect="1"/>
          </p:cNvPicPr>
          <p:nvPr/>
        </p:nvPicPr>
        <p:blipFill>
          <a:blip r:embed="rId2"/>
          <a:stretch>
            <a:fillRect/>
          </a:stretch>
        </p:blipFill>
        <p:spPr>
          <a:xfrm>
            <a:off x="4100474" y="2857500"/>
            <a:ext cx="182880" cy="182880"/>
          </a:xfrm>
          <a:prstGeom prst="rect">
            <a:avLst/>
          </a:prstGeom>
        </p:spPr>
      </p:pic>
      <p:sp>
        <p:nvSpPr>
          <p:cNvPr id="16" name="Step card 3"/>
          <p:cNvSpPr/>
          <p:nvPr/>
        </p:nvSpPr>
        <p:spPr>
          <a:xfrm>
            <a:off x="4356506" y="1783080"/>
            <a:ext cx="1574749" cy="2331720"/>
          </a:xfrm>
          <a:prstGeom prst="roundRect">
            <a:avLst>
              <a:gd name="adj" fmla="val 6968"/>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17" name="Step badge 3"/>
          <p:cNvSpPr/>
          <p:nvPr/>
        </p:nvSpPr>
        <p:spPr>
          <a:xfrm>
            <a:off x="4557674" y="2011680"/>
            <a:ext cx="548640" cy="548640"/>
          </a:xfrm>
          <a:prstGeom prst="ellipse">
            <a:avLst/>
          </a:prstGeom>
          <a:solidFill>
            <a:schemeClr val="accent1">
              <a:alpha val="12000"/>
            </a:schemeClr>
          </a:solidFill>
          <a:ln/>
        </p:spPr>
      </p:sp>
      <p:sp>
        <p:nvSpPr>
          <p:cNvPr id="18" name="Step number 3"/>
          <p:cNvSpPr txBox="1"/>
          <p:nvPr/>
        </p:nvSpPr>
        <p:spPr>
          <a:xfrm>
            <a:off x="4557674" y="20116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03</a:t>
            </a:r>
            <a:endParaRPr lang="en-US" sz="1500" dirty="0"/>
          </a:p>
        </p:txBody>
      </p:sp>
      <p:sp>
        <p:nvSpPr>
          <p:cNvPr id="19" name="Step name 3"/>
          <p:cNvSpPr txBox="1"/>
          <p:nvPr/>
        </p:nvSpPr>
        <p:spPr>
          <a:xfrm>
            <a:off x="4557674" y="2697480"/>
            <a:ext cx="1208989" cy="365760"/>
          </a:xfrm>
          <a:prstGeom prst="rect">
            <a:avLst/>
          </a:prstGeom>
          <a:noFill/>
          <a:ln/>
        </p:spPr>
        <p:txBody>
          <a:bodyPr wrap="square" lIns="0" tIns="0" rIns="0" bIns="0" rtlCol="0" anchor="ctr"/>
          <a:lstStyle/>
          <a:p>
            <a:pPr indent="0" marL="0">
              <a:buNone/>
            </a:pPr>
            <a:r>
              <a:rPr lang="en-US" sz="1700" b="1" dirty="0">
                <a:solidFill>
                  <a:schemeClr val="tx1"/>
                </a:solidFill>
              </a:rPr>
              <a:t>Compare</a:t>
            </a:r>
            <a:endParaRPr lang="en-US" sz="1700" dirty="0"/>
          </a:p>
        </p:txBody>
      </p:sp>
      <p:sp>
        <p:nvSpPr>
          <p:cNvPr id="20" name="Step text 3"/>
          <p:cNvSpPr txBox="1"/>
          <p:nvPr/>
        </p:nvSpPr>
        <p:spPr>
          <a:xfrm>
            <a:off x="4557674" y="3081528"/>
            <a:ext cx="1208989" cy="868680"/>
          </a:xfrm>
          <a:prstGeom prst="rect">
            <a:avLst/>
          </a:prstGeom>
          <a:noFill/>
          <a:ln/>
        </p:spPr>
        <p:txBody>
          <a:bodyPr wrap="square" lIns="0" tIns="0" rIns="0" bIns="0" rtlCol="0" anchor="t"/>
          <a:lstStyle/>
          <a:p>
            <a:pPr indent="0" marL="0">
              <a:buNone/>
            </a:pPr>
            <a:r>
              <a:rPr lang="en-US" sz="1400" dirty="0">
                <a:solidFill>
                  <a:schemeClr val="accent4"/>
                </a:solidFill>
              </a:rPr>
              <a:t>4 models on an 80/20 split</a:t>
            </a:r>
            <a:endParaRPr lang="en-US" sz="1400" dirty="0"/>
          </a:p>
        </p:txBody>
      </p:sp>
      <p:pic>
        <p:nvPicPr>
          <p:cNvPr id="21" name="Arrow 3" descr="preencoded.png">    </p:cNvPr>
          <p:cNvPicPr>
            <a:picLocks noChangeAspect="1"/>
          </p:cNvPicPr>
          <p:nvPr/>
        </p:nvPicPr>
        <p:blipFill>
          <a:blip r:embed="rId3"/>
          <a:stretch>
            <a:fillRect/>
          </a:stretch>
        </p:blipFill>
        <p:spPr>
          <a:xfrm>
            <a:off x="6004408" y="2857500"/>
            <a:ext cx="182880" cy="182880"/>
          </a:xfrm>
          <a:prstGeom prst="rect">
            <a:avLst/>
          </a:prstGeom>
        </p:spPr>
      </p:pic>
      <p:sp>
        <p:nvSpPr>
          <p:cNvPr id="22" name="Step card 4"/>
          <p:cNvSpPr/>
          <p:nvPr/>
        </p:nvSpPr>
        <p:spPr>
          <a:xfrm>
            <a:off x="6260440" y="1783080"/>
            <a:ext cx="1574749" cy="2331720"/>
          </a:xfrm>
          <a:prstGeom prst="roundRect">
            <a:avLst>
              <a:gd name="adj" fmla="val 6968"/>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23" name="Step badge 4"/>
          <p:cNvSpPr/>
          <p:nvPr/>
        </p:nvSpPr>
        <p:spPr>
          <a:xfrm>
            <a:off x="6461608" y="2011680"/>
            <a:ext cx="548640" cy="548640"/>
          </a:xfrm>
          <a:prstGeom prst="ellipse">
            <a:avLst/>
          </a:prstGeom>
          <a:solidFill>
            <a:schemeClr val="accent1">
              <a:alpha val="12000"/>
            </a:schemeClr>
          </a:solidFill>
          <a:ln/>
        </p:spPr>
      </p:sp>
      <p:sp>
        <p:nvSpPr>
          <p:cNvPr id="24" name="Step number 4"/>
          <p:cNvSpPr txBox="1"/>
          <p:nvPr/>
        </p:nvSpPr>
        <p:spPr>
          <a:xfrm>
            <a:off x="6461608" y="20116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04</a:t>
            </a:r>
            <a:endParaRPr lang="en-US" sz="1500" dirty="0"/>
          </a:p>
        </p:txBody>
      </p:sp>
      <p:sp>
        <p:nvSpPr>
          <p:cNvPr id="25" name="Step name 4"/>
          <p:cNvSpPr txBox="1"/>
          <p:nvPr/>
        </p:nvSpPr>
        <p:spPr>
          <a:xfrm>
            <a:off x="6461608" y="2697480"/>
            <a:ext cx="1208989" cy="365760"/>
          </a:xfrm>
          <a:prstGeom prst="rect">
            <a:avLst/>
          </a:prstGeom>
          <a:noFill/>
          <a:ln/>
        </p:spPr>
        <p:txBody>
          <a:bodyPr wrap="square" lIns="0" tIns="0" rIns="0" bIns="0" rtlCol="0" anchor="ctr"/>
          <a:lstStyle/>
          <a:p>
            <a:pPr indent="0" marL="0">
              <a:buNone/>
            </a:pPr>
            <a:r>
              <a:rPr lang="en-US" sz="1700" b="1" dirty="0">
                <a:solidFill>
                  <a:schemeClr val="tx1"/>
                </a:solidFill>
              </a:rPr>
              <a:t>Tune</a:t>
            </a:r>
            <a:endParaRPr lang="en-US" sz="1700" dirty="0"/>
          </a:p>
        </p:txBody>
      </p:sp>
      <p:sp>
        <p:nvSpPr>
          <p:cNvPr id="26" name="Step text 4"/>
          <p:cNvSpPr txBox="1"/>
          <p:nvPr/>
        </p:nvSpPr>
        <p:spPr>
          <a:xfrm>
            <a:off x="6461608" y="3081528"/>
            <a:ext cx="1208989" cy="868680"/>
          </a:xfrm>
          <a:prstGeom prst="rect">
            <a:avLst/>
          </a:prstGeom>
          <a:noFill/>
          <a:ln/>
        </p:spPr>
        <p:txBody>
          <a:bodyPr wrap="square" lIns="0" tIns="0" rIns="0" bIns="0" rtlCol="0" anchor="t"/>
          <a:lstStyle/>
          <a:p>
            <a:pPr indent="0" marL="0">
              <a:buNone/>
            </a:pPr>
            <a:r>
              <a:rPr lang="en-US" sz="1400" dirty="0">
                <a:solidFill>
                  <a:schemeClr val="accent4"/>
                </a:solidFill>
              </a:rPr>
              <a:t>Threshold with the best F1</a:t>
            </a:r>
            <a:endParaRPr lang="en-US" sz="1400" dirty="0"/>
          </a:p>
        </p:txBody>
      </p:sp>
      <p:pic>
        <p:nvPicPr>
          <p:cNvPr id="27" name="Arrow 4" descr="preencoded.png">    </p:cNvPr>
          <p:cNvPicPr>
            <a:picLocks noChangeAspect="1"/>
          </p:cNvPicPr>
          <p:nvPr/>
        </p:nvPicPr>
        <p:blipFill>
          <a:blip r:embed="rId4"/>
          <a:stretch>
            <a:fillRect/>
          </a:stretch>
        </p:blipFill>
        <p:spPr>
          <a:xfrm>
            <a:off x="7908341" y="2857500"/>
            <a:ext cx="182880" cy="182880"/>
          </a:xfrm>
          <a:prstGeom prst="rect">
            <a:avLst/>
          </a:prstGeom>
        </p:spPr>
      </p:pic>
      <p:sp>
        <p:nvSpPr>
          <p:cNvPr id="28" name="Step card 5"/>
          <p:cNvSpPr/>
          <p:nvPr/>
        </p:nvSpPr>
        <p:spPr>
          <a:xfrm>
            <a:off x="8164373" y="1783080"/>
            <a:ext cx="1574749" cy="2331720"/>
          </a:xfrm>
          <a:prstGeom prst="roundRect">
            <a:avLst>
              <a:gd name="adj" fmla="val 6968"/>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29" name="Step badge 5"/>
          <p:cNvSpPr/>
          <p:nvPr/>
        </p:nvSpPr>
        <p:spPr>
          <a:xfrm>
            <a:off x="8365541" y="2011680"/>
            <a:ext cx="548640" cy="548640"/>
          </a:xfrm>
          <a:prstGeom prst="ellipse">
            <a:avLst/>
          </a:prstGeom>
          <a:solidFill>
            <a:schemeClr val="accent1">
              <a:alpha val="12000"/>
            </a:schemeClr>
          </a:solidFill>
          <a:ln/>
        </p:spPr>
      </p:sp>
      <p:sp>
        <p:nvSpPr>
          <p:cNvPr id="30" name="Step number 5"/>
          <p:cNvSpPr txBox="1"/>
          <p:nvPr/>
        </p:nvSpPr>
        <p:spPr>
          <a:xfrm>
            <a:off x="8365541" y="20116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05</a:t>
            </a:r>
            <a:endParaRPr lang="en-US" sz="1500" dirty="0"/>
          </a:p>
        </p:txBody>
      </p:sp>
      <p:sp>
        <p:nvSpPr>
          <p:cNvPr id="31" name="Step name 5"/>
          <p:cNvSpPr txBox="1"/>
          <p:nvPr/>
        </p:nvSpPr>
        <p:spPr>
          <a:xfrm>
            <a:off x="8365541" y="2697480"/>
            <a:ext cx="1208989" cy="365760"/>
          </a:xfrm>
          <a:prstGeom prst="rect">
            <a:avLst/>
          </a:prstGeom>
          <a:noFill/>
          <a:ln/>
        </p:spPr>
        <p:txBody>
          <a:bodyPr wrap="square" lIns="0" tIns="0" rIns="0" bIns="0" rtlCol="0" anchor="ctr"/>
          <a:lstStyle/>
          <a:p>
            <a:pPr indent="0" marL="0">
              <a:buNone/>
            </a:pPr>
            <a:r>
              <a:rPr lang="en-US" sz="1700" b="1" dirty="0">
                <a:solidFill>
                  <a:schemeClr val="tx1"/>
                </a:solidFill>
              </a:rPr>
              <a:t>Validate</a:t>
            </a:r>
            <a:endParaRPr lang="en-US" sz="1700" dirty="0"/>
          </a:p>
        </p:txBody>
      </p:sp>
      <p:sp>
        <p:nvSpPr>
          <p:cNvPr id="32" name="Step text 5"/>
          <p:cNvSpPr txBox="1"/>
          <p:nvPr/>
        </p:nvSpPr>
        <p:spPr>
          <a:xfrm>
            <a:off x="8365541" y="3081528"/>
            <a:ext cx="1208989" cy="868680"/>
          </a:xfrm>
          <a:prstGeom prst="rect">
            <a:avLst/>
          </a:prstGeom>
          <a:noFill/>
          <a:ln/>
        </p:spPr>
        <p:txBody>
          <a:bodyPr wrap="square" lIns="0" tIns="0" rIns="0" bIns="0" rtlCol="0" anchor="t"/>
          <a:lstStyle/>
          <a:p>
            <a:pPr indent="0" marL="0">
              <a:buNone/>
            </a:pPr>
            <a:r>
              <a:rPr lang="en-US" sz="1400" dirty="0">
                <a:solidFill>
                  <a:schemeClr val="accent4"/>
                </a:solidFill>
              </a:rPr>
              <a:t>5-fold stratified cross validation</a:t>
            </a:r>
            <a:endParaRPr lang="en-US" sz="1400" dirty="0"/>
          </a:p>
        </p:txBody>
      </p:sp>
      <p:pic>
        <p:nvPicPr>
          <p:cNvPr id="33" name="Arrow 5" descr="preencoded.png">    </p:cNvPr>
          <p:cNvPicPr>
            <a:picLocks noChangeAspect="1"/>
          </p:cNvPicPr>
          <p:nvPr/>
        </p:nvPicPr>
        <p:blipFill>
          <a:blip r:embed="rId5"/>
          <a:stretch>
            <a:fillRect/>
          </a:stretch>
        </p:blipFill>
        <p:spPr>
          <a:xfrm>
            <a:off x="9812274" y="2857500"/>
            <a:ext cx="182880" cy="182880"/>
          </a:xfrm>
          <a:prstGeom prst="rect">
            <a:avLst/>
          </a:prstGeom>
        </p:spPr>
      </p:pic>
      <p:sp>
        <p:nvSpPr>
          <p:cNvPr id="34" name="Step card 6"/>
          <p:cNvSpPr/>
          <p:nvPr/>
        </p:nvSpPr>
        <p:spPr>
          <a:xfrm>
            <a:off x="10068306" y="1783080"/>
            <a:ext cx="1574749" cy="2331720"/>
          </a:xfrm>
          <a:prstGeom prst="roundRect">
            <a:avLst>
              <a:gd name="adj" fmla="val 6968"/>
            </a:avLst>
          </a:prstGeom>
          <a:solidFill>
            <a:schemeClr val="accent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35" name="Step badge 6"/>
          <p:cNvSpPr/>
          <p:nvPr/>
        </p:nvSpPr>
        <p:spPr>
          <a:xfrm>
            <a:off x="10269474" y="2011680"/>
            <a:ext cx="548640" cy="548640"/>
          </a:xfrm>
          <a:prstGeom prst="ellipse">
            <a:avLst/>
          </a:prstGeom>
          <a:solidFill>
            <a:schemeClr val="bg1"/>
          </a:solidFill>
          <a:ln/>
        </p:spPr>
      </p:sp>
      <p:sp>
        <p:nvSpPr>
          <p:cNvPr id="36" name="Step number 6"/>
          <p:cNvSpPr txBox="1"/>
          <p:nvPr/>
        </p:nvSpPr>
        <p:spPr>
          <a:xfrm>
            <a:off x="10269474" y="2011680"/>
            <a:ext cx="548640" cy="548640"/>
          </a:xfrm>
          <a:prstGeom prst="rect">
            <a:avLst/>
          </a:prstGeom>
          <a:noFill/>
          <a:ln/>
        </p:spPr>
        <p:txBody>
          <a:bodyPr wrap="square" lIns="0" tIns="0" rIns="0" bIns="0" rtlCol="0" anchor="ctr"/>
          <a:lstStyle/>
          <a:p>
            <a:pPr algn="ctr" indent="0" marL="0">
              <a:buNone/>
            </a:pPr>
            <a:r>
              <a:rPr lang="en-US" sz="1500" b="1" dirty="0">
                <a:solidFill>
                  <a:schemeClr val="accent1"/>
                </a:solidFill>
              </a:rPr>
              <a:t>06</a:t>
            </a:r>
            <a:endParaRPr lang="en-US" sz="1500" dirty="0"/>
          </a:p>
        </p:txBody>
      </p:sp>
      <p:sp>
        <p:nvSpPr>
          <p:cNvPr id="37" name="Step name 6"/>
          <p:cNvSpPr txBox="1"/>
          <p:nvPr/>
        </p:nvSpPr>
        <p:spPr>
          <a:xfrm>
            <a:off x="10269474" y="2697480"/>
            <a:ext cx="1208989" cy="365760"/>
          </a:xfrm>
          <a:prstGeom prst="rect">
            <a:avLst/>
          </a:prstGeom>
          <a:noFill/>
          <a:ln/>
        </p:spPr>
        <p:txBody>
          <a:bodyPr wrap="square" lIns="0" tIns="0" rIns="0" bIns="0" rtlCol="0" anchor="ctr"/>
          <a:lstStyle/>
          <a:p>
            <a:pPr indent="0" marL="0">
              <a:buNone/>
            </a:pPr>
            <a:r>
              <a:rPr lang="en-US" sz="1700" b="1" dirty="0">
                <a:solidFill>
                  <a:schemeClr val="bg1"/>
                </a:solidFill>
              </a:rPr>
              <a:t>Save</a:t>
            </a:r>
            <a:endParaRPr lang="en-US" sz="1700" dirty="0"/>
          </a:p>
        </p:txBody>
      </p:sp>
      <p:sp>
        <p:nvSpPr>
          <p:cNvPr id="38" name="Step text 6"/>
          <p:cNvSpPr txBox="1"/>
          <p:nvPr/>
        </p:nvSpPr>
        <p:spPr>
          <a:xfrm>
            <a:off x="10269474" y="3081528"/>
            <a:ext cx="1208989" cy="868680"/>
          </a:xfrm>
          <a:prstGeom prst="rect">
            <a:avLst/>
          </a:prstGeom>
          <a:noFill/>
          <a:ln/>
        </p:spPr>
        <p:txBody>
          <a:bodyPr wrap="square" lIns="0" tIns="0" rIns="0" bIns="0" rtlCol="0" anchor="t"/>
          <a:lstStyle/>
          <a:p>
            <a:pPr indent="0" marL="0">
              <a:buNone/>
            </a:pPr>
            <a:r>
              <a:rPr lang="en-US" sz="1400" dirty="0">
                <a:solidFill>
                  <a:schemeClr val="bg1"/>
                </a:solidFill>
              </a:rPr>
              <a:t>joblib model, graphs and reports</a:t>
            </a:r>
            <a:endParaRPr lang="en-US" sz="1400" dirty="0"/>
          </a:p>
        </p:txBody>
      </p:sp>
      <p:sp>
        <p:nvSpPr>
          <p:cNvPr id="39" name="Stack head"/>
          <p:cNvSpPr txBox="1"/>
          <p:nvPr/>
        </p:nvSpPr>
        <p:spPr>
          <a:xfrm>
            <a:off x="548640" y="4526280"/>
            <a:ext cx="3657600" cy="365760"/>
          </a:xfrm>
          <a:prstGeom prst="rect">
            <a:avLst/>
          </a:prstGeom>
          <a:noFill/>
          <a:ln/>
        </p:spPr>
        <p:txBody>
          <a:bodyPr wrap="square" lIns="0" tIns="0" rIns="0" bIns="0" rtlCol="0" anchor="ctr"/>
          <a:lstStyle/>
          <a:p>
            <a:pPr indent="0" marL="0">
              <a:buNone/>
            </a:pPr>
            <a:r>
              <a:rPr lang="en-US" sz="1800" b="1" dirty="0">
                <a:solidFill>
                  <a:schemeClr val="tx1"/>
                </a:solidFill>
              </a:rPr>
              <a:t>Tech stack</a:t>
            </a:r>
            <a:endParaRPr lang="en-US" sz="1800" dirty="0"/>
          </a:p>
        </p:txBody>
      </p:sp>
      <p:sp>
        <p:nvSpPr>
          <p:cNvPr id="40" name="Python 3.12 chip"/>
          <p:cNvSpPr/>
          <p:nvPr/>
        </p:nvSpPr>
        <p:spPr>
          <a:xfrm>
            <a:off x="548640" y="5029200"/>
            <a:ext cx="1175004" cy="438912"/>
          </a:xfrm>
          <a:prstGeom prst="roundRect">
            <a:avLst>
              <a:gd name="adj" fmla="val 50000"/>
            </a:avLst>
          </a:prstGeom>
          <a:solidFill>
            <a:schemeClr val="bg2"/>
          </a:solidFill>
          <a:ln w="9525">
            <a:solidFill>
              <a:srgbClr val="E9ECEF"/>
            </a:solidFill>
            <a:prstDash val="solid"/>
          </a:ln>
        </p:spPr>
      </p:sp>
      <p:sp>
        <p:nvSpPr>
          <p:cNvPr id="41" name="Python 3.12 label"/>
          <p:cNvSpPr txBox="1"/>
          <p:nvPr/>
        </p:nvSpPr>
        <p:spPr>
          <a:xfrm>
            <a:off x="548640" y="5029200"/>
            <a:ext cx="1175004" cy="438912"/>
          </a:xfrm>
          <a:prstGeom prst="rect">
            <a:avLst/>
          </a:prstGeom>
          <a:noFill/>
          <a:ln/>
        </p:spPr>
        <p:txBody>
          <a:bodyPr wrap="square" lIns="0" tIns="0" rIns="0" bIns="0" rtlCol="0" anchor="ctr"/>
          <a:lstStyle/>
          <a:p>
            <a:pPr algn="ctr" indent="0" marL="0">
              <a:buNone/>
            </a:pPr>
            <a:r>
              <a:rPr lang="en-US" sz="1400" dirty="0">
                <a:solidFill>
                  <a:schemeClr val="tx2"/>
                </a:solidFill>
              </a:rPr>
              <a:t>Python 3.12</a:t>
            </a:r>
            <a:endParaRPr lang="en-US" sz="1400" dirty="0"/>
          </a:p>
        </p:txBody>
      </p:sp>
      <p:sp>
        <p:nvSpPr>
          <p:cNvPr id="42" name="uv chip"/>
          <p:cNvSpPr/>
          <p:nvPr/>
        </p:nvSpPr>
        <p:spPr>
          <a:xfrm>
            <a:off x="1833372" y="5029200"/>
            <a:ext cx="475488" cy="438912"/>
          </a:xfrm>
          <a:prstGeom prst="roundRect">
            <a:avLst>
              <a:gd name="adj" fmla="val 50000"/>
            </a:avLst>
          </a:prstGeom>
          <a:solidFill>
            <a:schemeClr val="bg2"/>
          </a:solidFill>
          <a:ln w="9525">
            <a:solidFill>
              <a:srgbClr val="E9ECEF"/>
            </a:solidFill>
            <a:prstDash val="solid"/>
          </a:ln>
        </p:spPr>
      </p:sp>
      <p:sp>
        <p:nvSpPr>
          <p:cNvPr id="43" name="uv label"/>
          <p:cNvSpPr txBox="1"/>
          <p:nvPr/>
        </p:nvSpPr>
        <p:spPr>
          <a:xfrm>
            <a:off x="1833372" y="5029200"/>
            <a:ext cx="475488" cy="438912"/>
          </a:xfrm>
          <a:prstGeom prst="rect">
            <a:avLst/>
          </a:prstGeom>
          <a:noFill/>
          <a:ln/>
        </p:spPr>
        <p:txBody>
          <a:bodyPr wrap="square" lIns="0" tIns="0" rIns="0" bIns="0" rtlCol="0" anchor="ctr"/>
          <a:lstStyle/>
          <a:p>
            <a:pPr algn="ctr" indent="0" marL="0">
              <a:buNone/>
            </a:pPr>
            <a:r>
              <a:rPr lang="en-US" sz="1400" dirty="0">
                <a:solidFill>
                  <a:schemeClr val="tx2"/>
                </a:solidFill>
              </a:rPr>
              <a:t>uv</a:t>
            </a:r>
            <a:endParaRPr lang="en-US" sz="1400" dirty="0"/>
          </a:p>
        </p:txBody>
      </p:sp>
      <p:sp>
        <p:nvSpPr>
          <p:cNvPr id="44" name="pandas chip"/>
          <p:cNvSpPr/>
          <p:nvPr/>
        </p:nvSpPr>
        <p:spPr>
          <a:xfrm>
            <a:off x="2418588" y="5029200"/>
            <a:ext cx="786384" cy="438912"/>
          </a:xfrm>
          <a:prstGeom prst="roundRect">
            <a:avLst>
              <a:gd name="adj" fmla="val 50000"/>
            </a:avLst>
          </a:prstGeom>
          <a:solidFill>
            <a:schemeClr val="bg2"/>
          </a:solidFill>
          <a:ln w="9525">
            <a:solidFill>
              <a:srgbClr val="E9ECEF"/>
            </a:solidFill>
            <a:prstDash val="solid"/>
          </a:ln>
        </p:spPr>
      </p:sp>
      <p:sp>
        <p:nvSpPr>
          <p:cNvPr id="45" name="pandas label"/>
          <p:cNvSpPr txBox="1"/>
          <p:nvPr/>
        </p:nvSpPr>
        <p:spPr>
          <a:xfrm>
            <a:off x="2418588" y="5029200"/>
            <a:ext cx="786384" cy="438912"/>
          </a:xfrm>
          <a:prstGeom prst="rect">
            <a:avLst/>
          </a:prstGeom>
          <a:noFill/>
          <a:ln/>
        </p:spPr>
        <p:txBody>
          <a:bodyPr wrap="square" lIns="0" tIns="0" rIns="0" bIns="0" rtlCol="0" anchor="ctr"/>
          <a:lstStyle/>
          <a:p>
            <a:pPr algn="ctr" indent="0" marL="0">
              <a:buNone/>
            </a:pPr>
            <a:r>
              <a:rPr lang="en-US" sz="1400" dirty="0">
                <a:solidFill>
                  <a:schemeClr val="tx2"/>
                </a:solidFill>
              </a:rPr>
              <a:t>pandas</a:t>
            </a:r>
            <a:endParaRPr lang="en-US" sz="1400" dirty="0"/>
          </a:p>
        </p:txBody>
      </p:sp>
      <p:sp>
        <p:nvSpPr>
          <p:cNvPr id="46" name="scikit-learn chip"/>
          <p:cNvSpPr/>
          <p:nvPr/>
        </p:nvSpPr>
        <p:spPr>
          <a:xfrm>
            <a:off x="3314700" y="5029200"/>
            <a:ext cx="1252728" cy="438912"/>
          </a:xfrm>
          <a:prstGeom prst="roundRect">
            <a:avLst>
              <a:gd name="adj" fmla="val 50000"/>
            </a:avLst>
          </a:prstGeom>
          <a:solidFill>
            <a:schemeClr val="bg2"/>
          </a:solidFill>
          <a:ln w="9525">
            <a:solidFill>
              <a:srgbClr val="E9ECEF"/>
            </a:solidFill>
            <a:prstDash val="solid"/>
          </a:ln>
        </p:spPr>
      </p:sp>
      <p:sp>
        <p:nvSpPr>
          <p:cNvPr id="47" name="scikit-learn label"/>
          <p:cNvSpPr txBox="1"/>
          <p:nvPr/>
        </p:nvSpPr>
        <p:spPr>
          <a:xfrm>
            <a:off x="3314700" y="5029200"/>
            <a:ext cx="1252728" cy="438912"/>
          </a:xfrm>
          <a:prstGeom prst="rect">
            <a:avLst/>
          </a:prstGeom>
          <a:noFill/>
          <a:ln/>
        </p:spPr>
        <p:txBody>
          <a:bodyPr wrap="square" lIns="0" tIns="0" rIns="0" bIns="0" rtlCol="0" anchor="ctr"/>
          <a:lstStyle/>
          <a:p>
            <a:pPr algn="ctr" indent="0" marL="0">
              <a:buNone/>
            </a:pPr>
            <a:r>
              <a:rPr lang="en-US" sz="1400" dirty="0">
                <a:solidFill>
                  <a:schemeClr val="tx2"/>
                </a:solidFill>
              </a:rPr>
              <a:t>scikit-learn</a:t>
            </a:r>
            <a:endParaRPr lang="en-US" sz="1400" dirty="0"/>
          </a:p>
        </p:txBody>
      </p:sp>
      <p:sp>
        <p:nvSpPr>
          <p:cNvPr id="48" name="XGBoost chip"/>
          <p:cNvSpPr/>
          <p:nvPr/>
        </p:nvSpPr>
        <p:spPr>
          <a:xfrm>
            <a:off x="4677156" y="5029200"/>
            <a:ext cx="864108" cy="438912"/>
          </a:xfrm>
          <a:prstGeom prst="roundRect">
            <a:avLst>
              <a:gd name="adj" fmla="val 50000"/>
            </a:avLst>
          </a:prstGeom>
          <a:solidFill>
            <a:schemeClr val="bg2"/>
          </a:solidFill>
          <a:ln w="9525">
            <a:solidFill>
              <a:srgbClr val="E9ECEF"/>
            </a:solidFill>
            <a:prstDash val="solid"/>
          </a:ln>
        </p:spPr>
      </p:sp>
      <p:sp>
        <p:nvSpPr>
          <p:cNvPr id="49" name="XGBoost label"/>
          <p:cNvSpPr txBox="1"/>
          <p:nvPr/>
        </p:nvSpPr>
        <p:spPr>
          <a:xfrm>
            <a:off x="4677156" y="5029200"/>
            <a:ext cx="864108" cy="438912"/>
          </a:xfrm>
          <a:prstGeom prst="rect">
            <a:avLst/>
          </a:prstGeom>
          <a:noFill/>
          <a:ln/>
        </p:spPr>
        <p:txBody>
          <a:bodyPr wrap="square" lIns="0" tIns="0" rIns="0" bIns="0" rtlCol="0" anchor="ctr"/>
          <a:lstStyle/>
          <a:p>
            <a:pPr algn="ctr" indent="0" marL="0">
              <a:buNone/>
            </a:pPr>
            <a:r>
              <a:rPr lang="en-US" sz="1400" dirty="0">
                <a:solidFill>
                  <a:schemeClr val="tx2"/>
                </a:solidFill>
              </a:rPr>
              <a:t>XGBoost</a:t>
            </a:r>
            <a:endParaRPr lang="en-US" sz="1400" dirty="0"/>
          </a:p>
        </p:txBody>
      </p:sp>
      <p:sp>
        <p:nvSpPr>
          <p:cNvPr id="50" name="joblib chip"/>
          <p:cNvSpPr/>
          <p:nvPr/>
        </p:nvSpPr>
        <p:spPr>
          <a:xfrm>
            <a:off x="5650992" y="5029200"/>
            <a:ext cx="786384" cy="438912"/>
          </a:xfrm>
          <a:prstGeom prst="roundRect">
            <a:avLst>
              <a:gd name="adj" fmla="val 50000"/>
            </a:avLst>
          </a:prstGeom>
          <a:solidFill>
            <a:schemeClr val="bg2"/>
          </a:solidFill>
          <a:ln w="9525">
            <a:solidFill>
              <a:srgbClr val="E9ECEF"/>
            </a:solidFill>
            <a:prstDash val="solid"/>
          </a:ln>
        </p:spPr>
      </p:sp>
      <p:sp>
        <p:nvSpPr>
          <p:cNvPr id="51" name="joblib label"/>
          <p:cNvSpPr txBox="1"/>
          <p:nvPr/>
        </p:nvSpPr>
        <p:spPr>
          <a:xfrm>
            <a:off x="5650992" y="5029200"/>
            <a:ext cx="786384" cy="438912"/>
          </a:xfrm>
          <a:prstGeom prst="rect">
            <a:avLst/>
          </a:prstGeom>
          <a:noFill/>
          <a:ln/>
        </p:spPr>
        <p:txBody>
          <a:bodyPr wrap="square" lIns="0" tIns="0" rIns="0" bIns="0" rtlCol="0" anchor="ctr"/>
          <a:lstStyle/>
          <a:p>
            <a:pPr algn="ctr" indent="0" marL="0">
              <a:buNone/>
            </a:pPr>
            <a:r>
              <a:rPr lang="en-US" sz="1400" dirty="0">
                <a:solidFill>
                  <a:schemeClr val="tx2"/>
                </a:solidFill>
              </a:rPr>
              <a:t>joblib</a:t>
            </a:r>
            <a:endParaRPr lang="en-US" sz="1400" dirty="0"/>
          </a:p>
        </p:txBody>
      </p:sp>
      <p:sp>
        <p:nvSpPr>
          <p:cNvPr id="52" name="matplotlib chip"/>
          <p:cNvSpPr/>
          <p:nvPr/>
        </p:nvSpPr>
        <p:spPr>
          <a:xfrm>
            <a:off x="6547104" y="5029200"/>
            <a:ext cx="1097280" cy="438912"/>
          </a:xfrm>
          <a:prstGeom prst="roundRect">
            <a:avLst>
              <a:gd name="adj" fmla="val 50000"/>
            </a:avLst>
          </a:prstGeom>
          <a:solidFill>
            <a:schemeClr val="bg2"/>
          </a:solidFill>
          <a:ln w="9525">
            <a:solidFill>
              <a:srgbClr val="E9ECEF"/>
            </a:solidFill>
            <a:prstDash val="solid"/>
          </a:ln>
        </p:spPr>
      </p:sp>
      <p:sp>
        <p:nvSpPr>
          <p:cNvPr id="53" name="matplotlib label"/>
          <p:cNvSpPr txBox="1"/>
          <p:nvPr/>
        </p:nvSpPr>
        <p:spPr>
          <a:xfrm>
            <a:off x="6547104" y="5029200"/>
            <a:ext cx="1097280" cy="438912"/>
          </a:xfrm>
          <a:prstGeom prst="rect">
            <a:avLst/>
          </a:prstGeom>
          <a:noFill/>
          <a:ln/>
        </p:spPr>
        <p:txBody>
          <a:bodyPr wrap="square" lIns="0" tIns="0" rIns="0" bIns="0" rtlCol="0" anchor="ctr"/>
          <a:lstStyle/>
          <a:p>
            <a:pPr algn="ctr" indent="0" marL="0">
              <a:buNone/>
            </a:pPr>
            <a:r>
              <a:rPr lang="en-US" sz="1400" dirty="0">
                <a:solidFill>
                  <a:schemeClr val="tx2"/>
                </a:solidFill>
              </a:rPr>
              <a:t>matplotlib</a:t>
            </a:r>
            <a:endParaRPr lang="en-US" sz="1400" dirty="0"/>
          </a:p>
        </p:txBody>
      </p:sp>
      <p:sp>
        <p:nvSpPr>
          <p:cNvPr id="54" name="seaborn chip"/>
          <p:cNvSpPr/>
          <p:nvPr/>
        </p:nvSpPr>
        <p:spPr>
          <a:xfrm>
            <a:off x="7754112" y="5029200"/>
            <a:ext cx="864108" cy="438912"/>
          </a:xfrm>
          <a:prstGeom prst="roundRect">
            <a:avLst>
              <a:gd name="adj" fmla="val 50000"/>
            </a:avLst>
          </a:prstGeom>
          <a:solidFill>
            <a:schemeClr val="bg2"/>
          </a:solidFill>
          <a:ln w="9525">
            <a:solidFill>
              <a:srgbClr val="E9ECEF"/>
            </a:solidFill>
            <a:prstDash val="solid"/>
          </a:ln>
        </p:spPr>
      </p:sp>
      <p:sp>
        <p:nvSpPr>
          <p:cNvPr id="55" name="seaborn label"/>
          <p:cNvSpPr txBox="1"/>
          <p:nvPr/>
        </p:nvSpPr>
        <p:spPr>
          <a:xfrm>
            <a:off x="7754112" y="5029200"/>
            <a:ext cx="864108" cy="438912"/>
          </a:xfrm>
          <a:prstGeom prst="rect">
            <a:avLst/>
          </a:prstGeom>
          <a:noFill/>
          <a:ln/>
        </p:spPr>
        <p:txBody>
          <a:bodyPr wrap="square" lIns="0" tIns="0" rIns="0" bIns="0" rtlCol="0" anchor="ctr"/>
          <a:lstStyle/>
          <a:p>
            <a:pPr algn="ctr" indent="0" marL="0">
              <a:buNone/>
            </a:pPr>
            <a:r>
              <a:rPr lang="en-US" sz="1400" dirty="0">
                <a:solidFill>
                  <a:schemeClr val="tx2"/>
                </a:solidFill>
              </a:rPr>
              <a:t>seaborn</a:t>
            </a:r>
            <a:endParaRPr lang="en-US" sz="1400" dirty="0"/>
          </a:p>
        </p:txBody>
      </p:sp>
      <p:sp>
        <p:nvSpPr>
          <p:cNvPr id="56" name="rich chip"/>
          <p:cNvSpPr/>
          <p:nvPr/>
        </p:nvSpPr>
        <p:spPr>
          <a:xfrm>
            <a:off x="8727948" y="5029200"/>
            <a:ext cx="630936" cy="438912"/>
          </a:xfrm>
          <a:prstGeom prst="roundRect">
            <a:avLst>
              <a:gd name="adj" fmla="val 50000"/>
            </a:avLst>
          </a:prstGeom>
          <a:solidFill>
            <a:schemeClr val="bg2"/>
          </a:solidFill>
          <a:ln w="9525">
            <a:solidFill>
              <a:srgbClr val="E9ECEF"/>
            </a:solidFill>
            <a:prstDash val="solid"/>
          </a:ln>
        </p:spPr>
      </p:sp>
      <p:sp>
        <p:nvSpPr>
          <p:cNvPr id="57" name="rich label"/>
          <p:cNvSpPr txBox="1"/>
          <p:nvPr/>
        </p:nvSpPr>
        <p:spPr>
          <a:xfrm>
            <a:off x="8727948" y="5029200"/>
            <a:ext cx="630936" cy="438912"/>
          </a:xfrm>
          <a:prstGeom prst="rect">
            <a:avLst/>
          </a:prstGeom>
          <a:noFill/>
          <a:ln/>
        </p:spPr>
        <p:txBody>
          <a:bodyPr wrap="square" lIns="0" tIns="0" rIns="0" bIns="0" rtlCol="0" anchor="ctr"/>
          <a:lstStyle/>
          <a:p>
            <a:pPr algn="ctr" indent="0" marL="0">
              <a:buNone/>
            </a:pPr>
            <a:r>
              <a:rPr lang="en-US" sz="1400" dirty="0">
                <a:solidFill>
                  <a:schemeClr val="tx2"/>
                </a:solidFill>
              </a:rPr>
              <a:t>rich</a:t>
            </a:r>
            <a:endParaRPr lang="en-US" sz="1400" dirty="0"/>
          </a:p>
        </p:txBody>
      </p:sp>
      <p:sp>
        <p:nvSpPr>
          <p:cNvPr id="58" name="questionary chip"/>
          <p:cNvSpPr/>
          <p:nvPr/>
        </p:nvSpPr>
        <p:spPr>
          <a:xfrm>
            <a:off x="9468612" y="5029200"/>
            <a:ext cx="1175004" cy="438912"/>
          </a:xfrm>
          <a:prstGeom prst="roundRect">
            <a:avLst>
              <a:gd name="adj" fmla="val 50000"/>
            </a:avLst>
          </a:prstGeom>
          <a:solidFill>
            <a:schemeClr val="bg2"/>
          </a:solidFill>
          <a:ln w="9525">
            <a:solidFill>
              <a:srgbClr val="E9ECEF"/>
            </a:solidFill>
            <a:prstDash val="solid"/>
          </a:ln>
        </p:spPr>
      </p:sp>
      <p:sp>
        <p:nvSpPr>
          <p:cNvPr id="59" name="questionary label"/>
          <p:cNvSpPr txBox="1"/>
          <p:nvPr/>
        </p:nvSpPr>
        <p:spPr>
          <a:xfrm>
            <a:off x="9468612" y="5029200"/>
            <a:ext cx="1175004" cy="438912"/>
          </a:xfrm>
          <a:prstGeom prst="rect">
            <a:avLst/>
          </a:prstGeom>
          <a:noFill/>
          <a:ln/>
        </p:spPr>
        <p:txBody>
          <a:bodyPr wrap="square" lIns="0" tIns="0" rIns="0" bIns="0" rtlCol="0" anchor="ctr"/>
          <a:lstStyle/>
          <a:p>
            <a:pPr algn="ctr" indent="0" marL="0">
              <a:buNone/>
            </a:pPr>
            <a:r>
              <a:rPr lang="en-US" sz="1400" dirty="0">
                <a:solidFill>
                  <a:schemeClr val="tx2"/>
                </a:solidFill>
              </a:rPr>
              <a:t>questionary</a:t>
            </a:r>
            <a:endParaRPr lang="en-US" sz="1400" dirty="0"/>
          </a:p>
        </p:txBody>
      </p:sp>
      <p:sp>
        <p:nvSpPr>
          <p:cNvPr id="60" name="Jupyter chip"/>
          <p:cNvSpPr/>
          <p:nvPr/>
        </p:nvSpPr>
        <p:spPr>
          <a:xfrm>
            <a:off x="10753344" y="5029200"/>
            <a:ext cx="864108" cy="438912"/>
          </a:xfrm>
          <a:prstGeom prst="roundRect">
            <a:avLst>
              <a:gd name="adj" fmla="val 50000"/>
            </a:avLst>
          </a:prstGeom>
          <a:solidFill>
            <a:schemeClr val="bg2"/>
          </a:solidFill>
          <a:ln w="9525">
            <a:solidFill>
              <a:srgbClr val="E9ECEF"/>
            </a:solidFill>
            <a:prstDash val="solid"/>
          </a:ln>
        </p:spPr>
      </p:sp>
      <p:sp>
        <p:nvSpPr>
          <p:cNvPr id="61" name="Jupyter label"/>
          <p:cNvSpPr txBox="1"/>
          <p:nvPr/>
        </p:nvSpPr>
        <p:spPr>
          <a:xfrm>
            <a:off x="10753344" y="5029200"/>
            <a:ext cx="864108" cy="438912"/>
          </a:xfrm>
          <a:prstGeom prst="rect">
            <a:avLst/>
          </a:prstGeom>
          <a:noFill/>
          <a:ln/>
        </p:spPr>
        <p:txBody>
          <a:bodyPr wrap="square" lIns="0" tIns="0" rIns="0" bIns="0" rtlCol="0" anchor="ctr"/>
          <a:lstStyle/>
          <a:p>
            <a:pPr algn="ctr" indent="0" marL="0">
              <a:buNone/>
            </a:pPr>
            <a:r>
              <a:rPr lang="en-US" sz="1400" dirty="0">
                <a:solidFill>
                  <a:schemeClr val="tx2"/>
                </a:solidFill>
              </a:rPr>
              <a:t>Jupyter</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Results on the Test Set</a:t>
            </a:r>
            <a:endParaRPr lang="en-US" sz="3200" dirty="0"/>
          </a:p>
        </p:txBody>
      </p:sp>
      <p:sp>
        <p:nvSpPr>
          <p:cNvPr id="3" name="Intro"/>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chemeClr val="accent4"/>
                </a:solidFill>
              </a:rPr>
              <a:t>XGBoost on 555,719 unseen transactions, tuned threshold 0.974</a:t>
            </a:r>
            <a:endParaRPr lang="en-US" sz="1600" dirty="0"/>
          </a:p>
        </p:txBody>
      </p:sp>
      <p:sp>
        <p:nvSpPr>
          <p:cNvPr id="4" name="Metric tile 1"/>
          <p:cNvSpPr/>
          <p:nvPr/>
        </p:nvSpPr>
        <p:spPr>
          <a:xfrm>
            <a:off x="548640" y="1783080"/>
            <a:ext cx="2103120"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5" name="Precision value"/>
          <p:cNvSpPr txBox="1"/>
          <p:nvPr/>
        </p:nvSpPr>
        <p:spPr>
          <a:xfrm>
            <a:off x="777240" y="2057400"/>
            <a:ext cx="1645920" cy="731520"/>
          </a:xfrm>
          <a:prstGeom prst="rect">
            <a:avLst/>
          </a:prstGeom>
          <a:noFill/>
          <a:ln/>
        </p:spPr>
        <p:txBody>
          <a:bodyPr wrap="square" lIns="0" tIns="0" rIns="0" bIns="0" rtlCol="0" anchor="ctr"/>
          <a:lstStyle/>
          <a:p>
            <a:pPr indent="0" marL="0">
              <a:buNone/>
            </a:pPr>
            <a:r>
              <a:rPr lang="en-US" sz="3400" b="1" dirty="0">
                <a:solidFill>
                  <a:schemeClr val="tx2"/>
                </a:solidFill>
                <a:latin typeface="Aptos Display" pitchFamily="34" charset="0"/>
                <a:ea typeface="Aptos Display" pitchFamily="34" charset="-122"/>
                <a:cs typeface="Aptos Display" pitchFamily="34" charset="-120"/>
              </a:rPr>
              <a:t>86.2%</a:t>
            </a:r>
            <a:endParaRPr lang="en-US" sz="3400" dirty="0"/>
          </a:p>
        </p:txBody>
      </p:sp>
      <p:sp>
        <p:nvSpPr>
          <p:cNvPr id="6" name="Precision label"/>
          <p:cNvSpPr txBox="1"/>
          <p:nvPr/>
        </p:nvSpPr>
        <p:spPr>
          <a:xfrm>
            <a:off x="777240" y="2834640"/>
            <a:ext cx="1645920" cy="347472"/>
          </a:xfrm>
          <a:prstGeom prst="rect">
            <a:avLst/>
          </a:prstGeom>
          <a:noFill/>
          <a:ln/>
        </p:spPr>
        <p:txBody>
          <a:bodyPr wrap="square" lIns="0" tIns="0" rIns="0" bIns="0" rtlCol="0" anchor="ctr"/>
          <a:lstStyle/>
          <a:p>
            <a:pPr indent="0" marL="0">
              <a:buNone/>
            </a:pPr>
            <a:r>
              <a:rPr lang="en-US" sz="1600" b="1" dirty="0">
                <a:solidFill>
                  <a:schemeClr val="tx1"/>
                </a:solidFill>
              </a:rPr>
              <a:t>Precision</a:t>
            </a:r>
            <a:endParaRPr lang="en-US" sz="1600" dirty="0"/>
          </a:p>
        </p:txBody>
      </p:sp>
      <p:sp>
        <p:nvSpPr>
          <p:cNvPr id="7" name="Precision note"/>
          <p:cNvSpPr txBox="1"/>
          <p:nvPr/>
        </p:nvSpPr>
        <p:spPr>
          <a:xfrm>
            <a:off x="777240" y="3172968"/>
            <a:ext cx="1645920" cy="457200"/>
          </a:xfrm>
          <a:prstGeom prst="rect">
            <a:avLst/>
          </a:prstGeom>
          <a:noFill/>
          <a:ln/>
        </p:spPr>
        <p:txBody>
          <a:bodyPr wrap="square" lIns="0" tIns="0" rIns="0" bIns="0" rtlCol="0" anchor="t"/>
          <a:lstStyle/>
          <a:p>
            <a:pPr indent="0" marL="0">
              <a:buNone/>
            </a:pPr>
            <a:r>
              <a:rPr lang="en-US" sz="1400" dirty="0">
                <a:solidFill>
                  <a:schemeClr val="accent4"/>
                </a:solidFill>
              </a:rPr>
              <a:t>of alerts are real fraud</a:t>
            </a:r>
            <a:endParaRPr lang="en-US" sz="1400" dirty="0"/>
          </a:p>
        </p:txBody>
      </p:sp>
      <p:sp>
        <p:nvSpPr>
          <p:cNvPr id="8" name="Metric tile 2"/>
          <p:cNvSpPr/>
          <p:nvPr/>
        </p:nvSpPr>
        <p:spPr>
          <a:xfrm>
            <a:off x="2926080" y="1783080"/>
            <a:ext cx="2103120" cy="2011680"/>
          </a:xfrm>
          <a:prstGeom prst="roundRect">
            <a:avLst>
              <a:gd name="adj" fmla="val 5455"/>
            </a:avLst>
          </a:prstGeom>
          <a:solidFill>
            <a:schemeClr val="accent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9" name="Recall value"/>
          <p:cNvSpPr txBox="1"/>
          <p:nvPr/>
        </p:nvSpPr>
        <p:spPr>
          <a:xfrm>
            <a:off x="3154680" y="2057400"/>
            <a:ext cx="1645920" cy="731520"/>
          </a:xfrm>
          <a:prstGeom prst="rect">
            <a:avLst/>
          </a:prstGeom>
          <a:noFill/>
          <a:ln/>
        </p:spPr>
        <p:txBody>
          <a:bodyPr wrap="square" lIns="0" tIns="0" rIns="0" bIns="0" rtlCol="0" anchor="ctr"/>
          <a:lstStyle/>
          <a:p>
            <a:pPr indent="0" marL="0">
              <a:buNone/>
            </a:pPr>
            <a:r>
              <a:rPr lang="en-US" sz="3400" b="1" dirty="0">
                <a:solidFill>
                  <a:schemeClr val="bg1"/>
                </a:solidFill>
                <a:latin typeface="Aptos Display" pitchFamily="34" charset="0"/>
                <a:ea typeface="Aptos Display" pitchFamily="34" charset="-122"/>
                <a:cs typeface="Aptos Display" pitchFamily="34" charset="-120"/>
              </a:rPr>
              <a:t>80.5%</a:t>
            </a:r>
            <a:endParaRPr lang="en-US" sz="3400" dirty="0"/>
          </a:p>
        </p:txBody>
      </p:sp>
      <p:sp>
        <p:nvSpPr>
          <p:cNvPr id="10" name="Recall label"/>
          <p:cNvSpPr txBox="1"/>
          <p:nvPr/>
        </p:nvSpPr>
        <p:spPr>
          <a:xfrm>
            <a:off x="3154680" y="2834640"/>
            <a:ext cx="1645920" cy="347472"/>
          </a:xfrm>
          <a:prstGeom prst="rect">
            <a:avLst/>
          </a:prstGeom>
          <a:noFill/>
          <a:ln/>
        </p:spPr>
        <p:txBody>
          <a:bodyPr wrap="square" lIns="0" tIns="0" rIns="0" bIns="0" rtlCol="0" anchor="ctr"/>
          <a:lstStyle/>
          <a:p>
            <a:pPr indent="0" marL="0">
              <a:buNone/>
            </a:pPr>
            <a:r>
              <a:rPr lang="en-US" sz="1600" b="1" dirty="0">
                <a:solidFill>
                  <a:schemeClr val="bg1"/>
                </a:solidFill>
              </a:rPr>
              <a:t>Recall</a:t>
            </a:r>
            <a:endParaRPr lang="en-US" sz="1600" dirty="0"/>
          </a:p>
        </p:txBody>
      </p:sp>
      <p:sp>
        <p:nvSpPr>
          <p:cNvPr id="11" name="Recall note"/>
          <p:cNvSpPr txBox="1"/>
          <p:nvPr/>
        </p:nvSpPr>
        <p:spPr>
          <a:xfrm>
            <a:off x="3154680" y="3172968"/>
            <a:ext cx="1645920" cy="457200"/>
          </a:xfrm>
          <a:prstGeom prst="rect">
            <a:avLst/>
          </a:prstGeom>
          <a:noFill/>
          <a:ln/>
        </p:spPr>
        <p:txBody>
          <a:bodyPr wrap="square" lIns="0" tIns="0" rIns="0" bIns="0" rtlCol="0" anchor="t"/>
          <a:lstStyle/>
          <a:p>
            <a:pPr indent="0" marL="0">
              <a:buNone/>
            </a:pPr>
            <a:r>
              <a:rPr lang="en-US" sz="1400" dirty="0">
                <a:solidFill>
                  <a:schemeClr val="bg1"/>
                </a:solidFill>
              </a:rPr>
              <a:t>of all fraud is caught</a:t>
            </a:r>
            <a:endParaRPr lang="en-US" sz="1400" dirty="0"/>
          </a:p>
        </p:txBody>
      </p:sp>
      <p:sp>
        <p:nvSpPr>
          <p:cNvPr id="12" name="Metric tile 3"/>
          <p:cNvSpPr/>
          <p:nvPr/>
        </p:nvSpPr>
        <p:spPr>
          <a:xfrm>
            <a:off x="5303520" y="1783080"/>
            <a:ext cx="2103120"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13" name="F1 Score value"/>
          <p:cNvSpPr txBox="1"/>
          <p:nvPr/>
        </p:nvSpPr>
        <p:spPr>
          <a:xfrm>
            <a:off x="5532120" y="2057400"/>
            <a:ext cx="1645920" cy="731520"/>
          </a:xfrm>
          <a:prstGeom prst="rect">
            <a:avLst/>
          </a:prstGeom>
          <a:noFill/>
          <a:ln/>
        </p:spPr>
        <p:txBody>
          <a:bodyPr wrap="square" lIns="0" tIns="0" rIns="0" bIns="0" rtlCol="0" anchor="ctr"/>
          <a:lstStyle/>
          <a:p>
            <a:pPr indent="0" marL="0">
              <a:buNone/>
            </a:pPr>
            <a:r>
              <a:rPr lang="en-US" sz="3400" b="1" dirty="0">
                <a:solidFill>
                  <a:schemeClr val="tx2"/>
                </a:solidFill>
                <a:latin typeface="Aptos Display" pitchFamily="34" charset="0"/>
                <a:ea typeface="Aptos Display" pitchFamily="34" charset="-122"/>
                <a:cs typeface="Aptos Display" pitchFamily="34" charset="-120"/>
              </a:rPr>
              <a:t>83.2%</a:t>
            </a:r>
            <a:endParaRPr lang="en-US" sz="3400" dirty="0"/>
          </a:p>
        </p:txBody>
      </p:sp>
      <p:sp>
        <p:nvSpPr>
          <p:cNvPr id="14" name="F1 Score label"/>
          <p:cNvSpPr txBox="1"/>
          <p:nvPr/>
        </p:nvSpPr>
        <p:spPr>
          <a:xfrm>
            <a:off x="5532120" y="2834640"/>
            <a:ext cx="1645920" cy="347472"/>
          </a:xfrm>
          <a:prstGeom prst="rect">
            <a:avLst/>
          </a:prstGeom>
          <a:noFill/>
          <a:ln/>
        </p:spPr>
        <p:txBody>
          <a:bodyPr wrap="square" lIns="0" tIns="0" rIns="0" bIns="0" rtlCol="0" anchor="ctr"/>
          <a:lstStyle/>
          <a:p>
            <a:pPr indent="0" marL="0">
              <a:buNone/>
            </a:pPr>
            <a:r>
              <a:rPr lang="en-US" sz="1600" b="1" dirty="0">
                <a:solidFill>
                  <a:schemeClr val="tx1"/>
                </a:solidFill>
              </a:rPr>
              <a:t>F1 Score</a:t>
            </a:r>
            <a:endParaRPr lang="en-US" sz="1600" dirty="0"/>
          </a:p>
        </p:txBody>
      </p:sp>
      <p:sp>
        <p:nvSpPr>
          <p:cNvPr id="15" name="F1 Score note"/>
          <p:cNvSpPr txBox="1"/>
          <p:nvPr/>
        </p:nvSpPr>
        <p:spPr>
          <a:xfrm>
            <a:off x="5532120" y="3172968"/>
            <a:ext cx="1645920" cy="457200"/>
          </a:xfrm>
          <a:prstGeom prst="rect">
            <a:avLst/>
          </a:prstGeom>
          <a:noFill/>
          <a:ln/>
        </p:spPr>
        <p:txBody>
          <a:bodyPr wrap="square" lIns="0" tIns="0" rIns="0" bIns="0" rtlCol="0" anchor="t"/>
          <a:lstStyle/>
          <a:p>
            <a:pPr indent="0" marL="0">
              <a:buNone/>
            </a:pPr>
            <a:r>
              <a:rPr lang="en-US" sz="1400" dirty="0">
                <a:solidFill>
                  <a:schemeClr val="accent4"/>
                </a:solidFill>
              </a:rPr>
              <a:t>balance of the two</a:t>
            </a:r>
            <a:endParaRPr lang="en-US" sz="1400" dirty="0"/>
          </a:p>
        </p:txBody>
      </p:sp>
      <p:sp>
        <p:nvSpPr>
          <p:cNvPr id="16" name="Metric tile 4"/>
          <p:cNvSpPr/>
          <p:nvPr/>
        </p:nvSpPr>
        <p:spPr>
          <a:xfrm>
            <a:off x="548640" y="4069080"/>
            <a:ext cx="2103120"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17" name="ROC-AUC value"/>
          <p:cNvSpPr txBox="1"/>
          <p:nvPr/>
        </p:nvSpPr>
        <p:spPr>
          <a:xfrm>
            <a:off x="777240" y="4343400"/>
            <a:ext cx="1645920" cy="731520"/>
          </a:xfrm>
          <a:prstGeom prst="rect">
            <a:avLst/>
          </a:prstGeom>
          <a:noFill/>
          <a:ln/>
        </p:spPr>
        <p:txBody>
          <a:bodyPr wrap="square" lIns="0" tIns="0" rIns="0" bIns="0" rtlCol="0" anchor="ctr"/>
          <a:lstStyle/>
          <a:p>
            <a:pPr indent="0" marL="0">
              <a:buNone/>
            </a:pPr>
            <a:r>
              <a:rPr lang="en-US" sz="3400" b="1" dirty="0">
                <a:solidFill>
                  <a:schemeClr val="tx2"/>
                </a:solidFill>
                <a:latin typeface="Aptos Display" pitchFamily="34" charset="0"/>
                <a:ea typeface="Aptos Display" pitchFamily="34" charset="-122"/>
                <a:cs typeface="Aptos Display" pitchFamily="34" charset="-120"/>
              </a:rPr>
              <a:t>0.998</a:t>
            </a:r>
            <a:endParaRPr lang="en-US" sz="3400" dirty="0"/>
          </a:p>
        </p:txBody>
      </p:sp>
      <p:sp>
        <p:nvSpPr>
          <p:cNvPr id="18" name="ROC-AUC label"/>
          <p:cNvSpPr txBox="1"/>
          <p:nvPr/>
        </p:nvSpPr>
        <p:spPr>
          <a:xfrm>
            <a:off x="777240" y="5120640"/>
            <a:ext cx="1645920" cy="347472"/>
          </a:xfrm>
          <a:prstGeom prst="rect">
            <a:avLst/>
          </a:prstGeom>
          <a:noFill/>
          <a:ln/>
        </p:spPr>
        <p:txBody>
          <a:bodyPr wrap="square" lIns="0" tIns="0" rIns="0" bIns="0" rtlCol="0" anchor="ctr"/>
          <a:lstStyle/>
          <a:p>
            <a:pPr indent="0" marL="0">
              <a:buNone/>
            </a:pPr>
            <a:r>
              <a:rPr lang="en-US" sz="1600" b="1" dirty="0">
                <a:solidFill>
                  <a:schemeClr val="tx1"/>
                </a:solidFill>
              </a:rPr>
              <a:t>ROC-AUC</a:t>
            </a:r>
            <a:endParaRPr lang="en-US" sz="1600" dirty="0"/>
          </a:p>
        </p:txBody>
      </p:sp>
      <p:sp>
        <p:nvSpPr>
          <p:cNvPr id="19" name="ROC-AUC note"/>
          <p:cNvSpPr txBox="1"/>
          <p:nvPr/>
        </p:nvSpPr>
        <p:spPr>
          <a:xfrm>
            <a:off x="777240" y="5458968"/>
            <a:ext cx="1645920" cy="457200"/>
          </a:xfrm>
          <a:prstGeom prst="rect">
            <a:avLst/>
          </a:prstGeom>
          <a:noFill/>
          <a:ln/>
        </p:spPr>
        <p:txBody>
          <a:bodyPr wrap="square" lIns="0" tIns="0" rIns="0" bIns="0" rtlCol="0" anchor="t"/>
          <a:lstStyle/>
          <a:p>
            <a:pPr indent="0" marL="0">
              <a:buNone/>
            </a:pPr>
            <a:r>
              <a:rPr lang="en-US" sz="1400" dirty="0">
                <a:solidFill>
                  <a:schemeClr val="accent4"/>
                </a:solidFill>
              </a:rPr>
              <a:t>separation of classes</a:t>
            </a:r>
            <a:endParaRPr lang="en-US" sz="1400" dirty="0"/>
          </a:p>
        </p:txBody>
      </p:sp>
      <p:sp>
        <p:nvSpPr>
          <p:cNvPr id="20" name="Metric tile 5"/>
          <p:cNvSpPr/>
          <p:nvPr/>
        </p:nvSpPr>
        <p:spPr>
          <a:xfrm>
            <a:off x="2926080" y="4069080"/>
            <a:ext cx="2103120"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21" name="PR-AUC value"/>
          <p:cNvSpPr txBox="1"/>
          <p:nvPr/>
        </p:nvSpPr>
        <p:spPr>
          <a:xfrm>
            <a:off x="3154680" y="4343400"/>
            <a:ext cx="1645920" cy="731520"/>
          </a:xfrm>
          <a:prstGeom prst="rect">
            <a:avLst/>
          </a:prstGeom>
          <a:noFill/>
          <a:ln/>
        </p:spPr>
        <p:txBody>
          <a:bodyPr wrap="square" lIns="0" tIns="0" rIns="0" bIns="0" rtlCol="0" anchor="ctr"/>
          <a:lstStyle/>
          <a:p>
            <a:pPr indent="0" marL="0">
              <a:buNone/>
            </a:pPr>
            <a:r>
              <a:rPr lang="en-US" sz="3400" b="1" dirty="0">
                <a:solidFill>
                  <a:schemeClr val="tx2"/>
                </a:solidFill>
                <a:latin typeface="Aptos Display" pitchFamily="34" charset="0"/>
                <a:ea typeface="Aptos Display" pitchFamily="34" charset="-122"/>
                <a:cs typeface="Aptos Display" pitchFamily="34" charset="-120"/>
              </a:rPr>
              <a:t>0.901</a:t>
            </a:r>
            <a:endParaRPr lang="en-US" sz="3400" dirty="0"/>
          </a:p>
        </p:txBody>
      </p:sp>
      <p:sp>
        <p:nvSpPr>
          <p:cNvPr id="22" name="PR-AUC label"/>
          <p:cNvSpPr txBox="1"/>
          <p:nvPr/>
        </p:nvSpPr>
        <p:spPr>
          <a:xfrm>
            <a:off x="3154680" y="5120640"/>
            <a:ext cx="1645920" cy="347472"/>
          </a:xfrm>
          <a:prstGeom prst="rect">
            <a:avLst/>
          </a:prstGeom>
          <a:noFill/>
          <a:ln/>
        </p:spPr>
        <p:txBody>
          <a:bodyPr wrap="square" lIns="0" tIns="0" rIns="0" bIns="0" rtlCol="0" anchor="ctr"/>
          <a:lstStyle/>
          <a:p>
            <a:pPr indent="0" marL="0">
              <a:buNone/>
            </a:pPr>
            <a:r>
              <a:rPr lang="en-US" sz="1600" b="1" dirty="0">
                <a:solidFill>
                  <a:schemeClr val="tx1"/>
                </a:solidFill>
              </a:rPr>
              <a:t>PR-AUC</a:t>
            </a:r>
            <a:endParaRPr lang="en-US" sz="1600" dirty="0"/>
          </a:p>
        </p:txBody>
      </p:sp>
      <p:sp>
        <p:nvSpPr>
          <p:cNvPr id="23" name="PR-AUC note"/>
          <p:cNvSpPr txBox="1"/>
          <p:nvPr/>
        </p:nvSpPr>
        <p:spPr>
          <a:xfrm>
            <a:off x="3154680" y="5458968"/>
            <a:ext cx="1645920" cy="457200"/>
          </a:xfrm>
          <a:prstGeom prst="rect">
            <a:avLst/>
          </a:prstGeom>
          <a:noFill/>
          <a:ln/>
        </p:spPr>
        <p:txBody>
          <a:bodyPr wrap="square" lIns="0" tIns="0" rIns="0" bIns="0" rtlCol="0" anchor="t"/>
          <a:lstStyle/>
          <a:p>
            <a:pPr indent="0" marL="0">
              <a:buNone/>
            </a:pPr>
            <a:r>
              <a:rPr lang="en-US" sz="1400" dirty="0">
                <a:solidFill>
                  <a:schemeClr val="accent4"/>
                </a:solidFill>
              </a:rPr>
              <a:t>best score for imbalance</a:t>
            </a:r>
            <a:endParaRPr lang="en-US" sz="1400" dirty="0"/>
          </a:p>
        </p:txBody>
      </p:sp>
      <p:sp>
        <p:nvSpPr>
          <p:cNvPr id="24" name="Metric tile 6"/>
          <p:cNvSpPr/>
          <p:nvPr/>
        </p:nvSpPr>
        <p:spPr>
          <a:xfrm>
            <a:off x="5303520" y="4069080"/>
            <a:ext cx="2103120" cy="2011680"/>
          </a:xfrm>
          <a:prstGeom prst="roundRect">
            <a:avLst>
              <a:gd name="adj" fmla="val 5455"/>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25" name="5-fold CV PR-AUC value"/>
          <p:cNvSpPr txBox="1"/>
          <p:nvPr/>
        </p:nvSpPr>
        <p:spPr>
          <a:xfrm>
            <a:off x="5532120" y="4343400"/>
            <a:ext cx="1645920" cy="731520"/>
          </a:xfrm>
          <a:prstGeom prst="rect">
            <a:avLst/>
          </a:prstGeom>
          <a:noFill/>
          <a:ln/>
        </p:spPr>
        <p:txBody>
          <a:bodyPr wrap="square" lIns="0" tIns="0" rIns="0" bIns="0" rtlCol="0" anchor="ctr"/>
          <a:lstStyle/>
          <a:p>
            <a:pPr indent="0" marL="0">
              <a:buNone/>
            </a:pPr>
            <a:r>
              <a:rPr lang="en-US" sz="3400" b="1" dirty="0">
                <a:solidFill>
                  <a:schemeClr val="tx2"/>
                </a:solidFill>
                <a:latin typeface="Aptos Display" pitchFamily="34" charset="0"/>
                <a:ea typeface="Aptos Display" pitchFamily="34" charset="-122"/>
                <a:cs typeface="Aptos Display" pitchFamily="34" charset="-120"/>
              </a:rPr>
              <a:t>0.946</a:t>
            </a:r>
            <a:endParaRPr lang="en-US" sz="3400" dirty="0"/>
          </a:p>
        </p:txBody>
      </p:sp>
      <p:sp>
        <p:nvSpPr>
          <p:cNvPr id="26" name="5-fold CV PR-AUC label"/>
          <p:cNvSpPr txBox="1"/>
          <p:nvPr/>
        </p:nvSpPr>
        <p:spPr>
          <a:xfrm>
            <a:off x="5532120" y="5120640"/>
            <a:ext cx="1645920" cy="347472"/>
          </a:xfrm>
          <a:prstGeom prst="rect">
            <a:avLst/>
          </a:prstGeom>
          <a:noFill/>
          <a:ln/>
        </p:spPr>
        <p:txBody>
          <a:bodyPr wrap="square" lIns="0" tIns="0" rIns="0" bIns="0" rtlCol="0" anchor="ctr"/>
          <a:lstStyle/>
          <a:p>
            <a:pPr indent="0" marL="0">
              <a:buNone/>
            </a:pPr>
            <a:r>
              <a:rPr lang="en-US" sz="1600" b="1" dirty="0">
                <a:solidFill>
                  <a:schemeClr val="tx1"/>
                </a:solidFill>
              </a:rPr>
              <a:t>5-fold CV PR-AUC</a:t>
            </a:r>
            <a:endParaRPr lang="en-US" sz="1600" dirty="0"/>
          </a:p>
        </p:txBody>
      </p:sp>
      <p:sp>
        <p:nvSpPr>
          <p:cNvPr id="27" name="5-fold CV PR-AUC note"/>
          <p:cNvSpPr txBox="1"/>
          <p:nvPr/>
        </p:nvSpPr>
        <p:spPr>
          <a:xfrm>
            <a:off x="5532120" y="5458968"/>
            <a:ext cx="1645920" cy="457200"/>
          </a:xfrm>
          <a:prstGeom prst="rect">
            <a:avLst/>
          </a:prstGeom>
          <a:noFill/>
          <a:ln/>
        </p:spPr>
        <p:txBody>
          <a:bodyPr wrap="square" lIns="0" tIns="0" rIns="0" bIns="0" rtlCol="0" anchor="t"/>
          <a:lstStyle/>
          <a:p>
            <a:pPr indent="0" marL="0">
              <a:buNone/>
            </a:pPr>
            <a:r>
              <a:rPr lang="en-US" sz="1400" dirty="0">
                <a:solidFill>
                  <a:schemeClr val="accent4"/>
                </a:solidFill>
              </a:rPr>
              <a:t>± 0.002 across folds</a:t>
            </a:r>
            <a:endParaRPr lang="en-US" sz="1400" dirty="0"/>
          </a:p>
        </p:txBody>
      </p:sp>
      <p:sp>
        <p:nvSpPr>
          <p:cNvPr id="28" name="CM head"/>
          <p:cNvSpPr txBox="1"/>
          <p:nvPr/>
        </p:nvSpPr>
        <p:spPr>
          <a:xfrm>
            <a:off x="7818120" y="1783080"/>
            <a:ext cx="3824935" cy="365760"/>
          </a:xfrm>
          <a:prstGeom prst="rect">
            <a:avLst/>
          </a:prstGeom>
          <a:noFill/>
          <a:ln/>
        </p:spPr>
        <p:txBody>
          <a:bodyPr wrap="square" lIns="0" tIns="0" rIns="0" bIns="0" rtlCol="0" anchor="ctr"/>
          <a:lstStyle/>
          <a:p>
            <a:pPr indent="0" marL="0">
              <a:buNone/>
            </a:pPr>
            <a:r>
              <a:rPr lang="en-US" sz="1800" b="1" dirty="0">
                <a:solidFill>
                  <a:schemeClr val="tx1"/>
                </a:solidFill>
              </a:rPr>
              <a:t>Confusion matrix</a:t>
            </a:r>
            <a:endParaRPr lang="en-US" sz="1800" dirty="0"/>
          </a:p>
        </p:txBody>
      </p:sp>
      <p:sp>
        <p:nvSpPr>
          <p:cNvPr id="29" name="Predicted normal"/>
          <p:cNvSpPr txBox="1"/>
          <p:nvPr/>
        </p:nvSpPr>
        <p:spPr>
          <a:xfrm>
            <a:off x="8869680" y="2221992"/>
            <a:ext cx="1340968" cy="320040"/>
          </a:xfrm>
          <a:prstGeom prst="rect">
            <a:avLst/>
          </a:prstGeom>
          <a:noFill/>
          <a:ln/>
        </p:spPr>
        <p:txBody>
          <a:bodyPr wrap="square" lIns="0" tIns="0" rIns="0" bIns="0" rtlCol="0" anchor="ctr"/>
          <a:lstStyle/>
          <a:p>
            <a:pPr algn="ctr" indent="0" marL="0">
              <a:buNone/>
            </a:pPr>
            <a:r>
              <a:rPr lang="en-US" sz="1200" dirty="0">
                <a:solidFill>
                  <a:schemeClr val="accent4"/>
                </a:solidFill>
              </a:rPr>
              <a:t>Predicted normal</a:t>
            </a:r>
            <a:endParaRPr lang="en-US" sz="1200" dirty="0"/>
          </a:p>
        </p:txBody>
      </p:sp>
      <p:sp>
        <p:nvSpPr>
          <p:cNvPr id="30" name="Predicted fraud"/>
          <p:cNvSpPr txBox="1"/>
          <p:nvPr/>
        </p:nvSpPr>
        <p:spPr>
          <a:xfrm>
            <a:off x="10302088" y="2221992"/>
            <a:ext cx="1340968" cy="320040"/>
          </a:xfrm>
          <a:prstGeom prst="rect">
            <a:avLst/>
          </a:prstGeom>
          <a:noFill/>
          <a:ln/>
        </p:spPr>
        <p:txBody>
          <a:bodyPr wrap="square" lIns="0" tIns="0" rIns="0" bIns="0" rtlCol="0" anchor="ctr"/>
          <a:lstStyle/>
          <a:p>
            <a:pPr algn="ctr" indent="0" marL="0">
              <a:buNone/>
            </a:pPr>
            <a:r>
              <a:rPr lang="en-US" sz="1200" dirty="0">
                <a:solidFill>
                  <a:schemeClr val="accent4"/>
                </a:solidFill>
              </a:rPr>
              <a:t>Predicted fraud</a:t>
            </a:r>
            <a:endParaRPr lang="en-US" sz="1200" dirty="0"/>
          </a:p>
        </p:txBody>
      </p:sp>
      <p:sp>
        <p:nvSpPr>
          <p:cNvPr id="31" name="Actual normal"/>
          <p:cNvSpPr txBox="1"/>
          <p:nvPr/>
        </p:nvSpPr>
        <p:spPr>
          <a:xfrm>
            <a:off x="7818120" y="2606040"/>
            <a:ext cx="960120" cy="1097280"/>
          </a:xfrm>
          <a:prstGeom prst="rect">
            <a:avLst/>
          </a:prstGeom>
          <a:noFill/>
          <a:ln/>
        </p:spPr>
        <p:txBody>
          <a:bodyPr wrap="square" lIns="0" tIns="0" rIns="0" bIns="0" rtlCol="0" anchor="ctr"/>
          <a:lstStyle/>
          <a:p>
            <a:pPr indent="0" marL="0">
              <a:buNone/>
            </a:pPr>
            <a:r>
              <a:rPr lang="en-US" sz="1200" dirty="0">
                <a:solidFill>
                  <a:schemeClr val="accent4"/>
                </a:solidFill>
              </a:rPr>
              <a:t>Actual normal</a:t>
            </a:r>
            <a:endParaRPr lang="en-US" sz="1200" dirty="0"/>
          </a:p>
        </p:txBody>
      </p:sp>
      <p:sp>
        <p:nvSpPr>
          <p:cNvPr id="32" name="Actual fraud"/>
          <p:cNvSpPr txBox="1"/>
          <p:nvPr/>
        </p:nvSpPr>
        <p:spPr>
          <a:xfrm>
            <a:off x="7818120" y="3794760"/>
            <a:ext cx="960120" cy="1097280"/>
          </a:xfrm>
          <a:prstGeom prst="rect">
            <a:avLst/>
          </a:prstGeom>
          <a:noFill/>
          <a:ln/>
        </p:spPr>
        <p:txBody>
          <a:bodyPr wrap="square" lIns="0" tIns="0" rIns="0" bIns="0" rtlCol="0" anchor="ctr"/>
          <a:lstStyle/>
          <a:p>
            <a:pPr indent="0" marL="0">
              <a:buNone/>
            </a:pPr>
            <a:r>
              <a:rPr lang="en-US" sz="1200" dirty="0">
                <a:solidFill>
                  <a:schemeClr val="accent4"/>
                </a:solidFill>
              </a:rPr>
              <a:t>Actual fraud</a:t>
            </a:r>
            <a:endParaRPr lang="en-US" sz="1200" dirty="0"/>
          </a:p>
        </p:txBody>
      </p:sp>
      <p:sp>
        <p:nvSpPr>
          <p:cNvPr id="33" name="TN cell"/>
          <p:cNvSpPr/>
          <p:nvPr/>
        </p:nvSpPr>
        <p:spPr>
          <a:xfrm>
            <a:off x="8869680" y="2606040"/>
            <a:ext cx="1340968" cy="1097280"/>
          </a:xfrm>
          <a:prstGeom prst="roundRect">
            <a:avLst>
              <a:gd name="adj" fmla="val 6667"/>
            </a:avLst>
          </a:prstGeom>
          <a:solidFill>
            <a:schemeClr val="accent1">
              <a:alpha val="20000"/>
            </a:schemeClr>
          </a:solidFill>
          <a:ln/>
        </p:spPr>
      </p:sp>
      <p:sp>
        <p:nvSpPr>
          <p:cNvPr id="34" name="TN value"/>
          <p:cNvSpPr txBox="1"/>
          <p:nvPr/>
        </p:nvSpPr>
        <p:spPr>
          <a:xfrm>
            <a:off x="8869680" y="2606040"/>
            <a:ext cx="1340968" cy="1097280"/>
          </a:xfrm>
          <a:prstGeom prst="rect">
            <a:avLst/>
          </a:prstGeom>
          <a:noFill/>
          <a:ln/>
        </p:spPr>
        <p:txBody>
          <a:bodyPr wrap="square" lIns="0" tIns="0" rIns="0" bIns="0" rtlCol="0" anchor="ctr"/>
          <a:lstStyle/>
          <a:p>
            <a:pPr algn="ctr" indent="0" marL="0">
              <a:buNone/>
            </a:pPr>
            <a:r>
              <a:rPr lang="en-US" sz="2000" b="1" dirty="0">
                <a:solidFill>
                  <a:schemeClr val="tx1"/>
                </a:solidFill>
              </a:rPr>
              <a:t>553,297</a:t>
            </a:r>
            <a:endParaRPr lang="en-US" sz="2000" dirty="0"/>
          </a:p>
          <a:p>
            <a:pPr algn="ctr" indent="0" marL="0">
              <a:buNone/>
            </a:pPr>
            <a:r>
              <a:rPr lang="en-US" sz="1200" dirty="0">
                <a:solidFill>
                  <a:schemeClr val="tx1"/>
                </a:solidFill>
              </a:rPr>
              <a:t>TN</a:t>
            </a:r>
            <a:endParaRPr lang="en-US" sz="2000" dirty="0"/>
          </a:p>
        </p:txBody>
      </p:sp>
      <p:sp>
        <p:nvSpPr>
          <p:cNvPr id="35" name="FP cell"/>
          <p:cNvSpPr/>
          <p:nvPr/>
        </p:nvSpPr>
        <p:spPr>
          <a:xfrm>
            <a:off x="10302088" y="2606040"/>
            <a:ext cx="1340968" cy="1097280"/>
          </a:xfrm>
          <a:prstGeom prst="roundRect">
            <a:avLst>
              <a:gd name="adj" fmla="val 6667"/>
            </a:avLst>
          </a:prstGeom>
          <a:solidFill>
            <a:schemeClr val="bg2"/>
          </a:solidFill>
          <a:ln/>
        </p:spPr>
      </p:sp>
      <p:sp>
        <p:nvSpPr>
          <p:cNvPr id="36" name="FP value"/>
          <p:cNvSpPr txBox="1"/>
          <p:nvPr/>
        </p:nvSpPr>
        <p:spPr>
          <a:xfrm>
            <a:off x="10302088" y="2606040"/>
            <a:ext cx="1340968" cy="1097280"/>
          </a:xfrm>
          <a:prstGeom prst="rect">
            <a:avLst/>
          </a:prstGeom>
          <a:noFill/>
          <a:ln/>
        </p:spPr>
        <p:txBody>
          <a:bodyPr wrap="square" lIns="0" tIns="0" rIns="0" bIns="0" rtlCol="0" anchor="ctr"/>
          <a:lstStyle/>
          <a:p>
            <a:pPr algn="ctr" indent="0" marL="0">
              <a:buNone/>
            </a:pPr>
            <a:r>
              <a:rPr lang="en-US" sz="2000" b="1" dirty="0">
                <a:solidFill>
                  <a:schemeClr val="tx1"/>
                </a:solidFill>
              </a:rPr>
              <a:t>277</a:t>
            </a:r>
            <a:endParaRPr lang="en-US" sz="2000" dirty="0"/>
          </a:p>
          <a:p>
            <a:pPr algn="ctr" indent="0" marL="0">
              <a:buNone/>
            </a:pPr>
            <a:r>
              <a:rPr lang="en-US" sz="1200" dirty="0">
                <a:solidFill>
                  <a:schemeClr val="tx1"/>
                </a:solidFill>
              </a:rPr>
              <a:t>FP</a:t>
            </a:r>
            <a:endParaRPr lang="en-US" sz="2000" dirty="0"/>
          </a:p>
        </p:txBody>
      </p:sp>
      <p:sp>
        <p:nvSpPr>
          <p:cNvPr id="37" name="FN cell"/>
          <p:cNvSpPr/>
          <p:nvPr/>
        </p:nvSpPr>
        <p:spPr>
          <a:xfrm>
            <a:off x="8869680" y="3794760"/>
            <a:ext cx="1340968" cy="1097280"/>
          </a:xfrm>
          <a:prstGeom prst="roundRect">
            <a:avLst>
              <a:gd name="adj" fmla="val 6667"/>
            </a:avLst>
          </a:prstGeom>
          <a:solidFill>
            <a:schemeClr val="bg2"/>
          </a:solidFill>
          <a:ln/>
        </p:spPr>
      </p:sp>
      <p:sp>
        <p:nvSpPr>
          <p:cNvPr id="38" name="FN value"/>
          <p:cNvSpPr txBox="1"/>
          <p:nvPr/>
        </p:nvSpPr>
        <p:spPr>
          <a:xfrm>
            <a:off x="8869680" y="3794760"/>
            <a:ext cx="1340968" cy="1097280"/>
          </a:xfrm>
          <a:prstGeom prst="rect">
            <a:avLst/>
          </a:prstGeom>
          <a:noFill/>
          <a:ln/>
        </p:spPr>
        <p:txBody>
          <a:bodyPr wrap="square" lIns="0" tIns="0" rIns="0" bIns="0" rtlCol="0" anchor="ctr"/>
          <a:lstStyle/>
          <a:p>
            <a:pPr algn="ctr" indent="0" marL="0">
              <a:buNone/>
            </a:pPr>
            <a:r>
              <a:rPr lang="en-US" sz="2000" b="1" dirty="0">
                <a:solidFill>
                  <a:schemeClr val="tx1"/>
                </a:solidFill>
              </a:rPr>
              <a:t>419</a:t>
            </a:r>
            <a:endParaRPr lang="en-US" sz="2000" dirty="0"/>
          </a:p>
          <a:p>
            <a:pPr algn="ctr" indent="0" marL="0">
              <a:buNone/>
            </a:pPr>
            <a:r>
              <a:rPr lang="en-US" sz="1200" dirty="0">
                <a:solidFill>
                  <a:schemeClr val="tx1"/>
                </a:solidFill>
              </a:rPr>
              <a:t>FN</a:t>
            </a:r>
            <a:endParaRPr lang="en-US" sz="2000" dirty="0"/>
          </a:p>
        </p:txBody>
      </p:sp>
      <p:sp>
        <p:nvSpPr>
          <p:cNvPr id="39" name="TP cell"/>
          <p:cNvSpPr/>
          <p:nvPr/>
        </p:nvSpPr>
        <p:spPr>
          <a:xfrm>
            <a:off x="10302088" y="3794760"/>
            <a:ext cx="1340968" cy="1097280"/>
          </a:xfrm>
          <a:prstGeom prst="roundRect">
            <a:avLst>
              <a:gd name="adj" fmla="val 6667"/>
            </a:avLst>
          </a:prstGeom>
          <a:solidFill>
            <a:schemeClr val="accent1"/>
          </a:solidFill>
          <a:ln/>
        </p:spPr>
      </p:sp>
      <p:sp>
        <p:nvSpPr>
          <p:cNvPr id="40" name="TP value"/>
          <p:cNvSpPr txBox="1"/>
          <p:nvPr/>
        </p:nvSpPr>
        <p:spPr>
          <a:xfrm>
            <a:off x="10302088" y="3794760"/>
            <a:ext cx="1340968" cy="1097280"/>
          </a:xfrm>
          <a:prstGeom prst="rect">
            <a:avLst/>
          </a:prstGeom>
          <a:noFill/>
          <a:ln/>
        </p:spPr>
        <p:txBody>
          <a:bodyPr wrap="square" lIns="0" tIns="0" rIns="0" bIns="0" rtlCol="0" anchor="ctr"/>
          <a:lstStyle/>
          <a:p>
            <a:pPr algn="ctr" indent="0" marL="0">
              <a:buNone/>
            </a:pPr>
            <a:r>
              <a:rPr lang="en-US" sz="2000" b="1" dirty="0">
                <a:solidFill>
                  <a:schemeClr val="bg1"/>
                </a:solidFill>
              </a:rPr>
              <a:t>1,726</a:t>
            </a:r>
            <a:endParaRPr lang="en-US" sz="2000" dirty="0"/>
          </a:p>
          <a:p>
            <a:pPr algn="ctr" indent="0" marL="0">
              <a:buNone/>
            </a:pPr>
            <a:r>
              <a:rPr lang="en-US" sz="1200" dirty="0">
                <a:solidFill>
                  <a:schemeClr val="bg1"/>
                </a:solidFill>
              </a:rPr>
              <a:t>TP</a:t>
            </a:r>
            <a:endParaRPr lang="en-US" sz="2000" dirty="0"/>
          </a:p>
        </p:txBody>
      </p:sp>
      <p:sp>
        <p:nvSpPr>
          <p:cNvPr id="41" name="CM insight"/>
          <p:cNvSpPr txBox="1"/>
          <p:nvPr/>
        </p:nvSpPr>
        <p:spPr>
          <a:xfrm>
            <a:off x="7818120" y="5074920"/>
            <a:ext cx="3824935" cy="822960"/>
          </a:xfrm>
          <a:prstGeom prst="rect">
            <a:avLst/>
          </a:prstGeom>
          <a:noFill/>
          <a:ln/>
        </p:spPr>
        <p:txBody>
          <a:bodyPr wrap="square" lIns="0" tIns="0" rIns="0" bIns="0" rtlCol="0" anchor="t"/>
          <a:lstStyle/>
          <a:p>
            <a:pPr indent="0" marL="0">
              <a:buNone/>
            </a:pPr>
            <a:r>
              <a:rPr lang="en-US" sz="1400" i="1" dirty="0">
                <a:solidFill>
                  <a:schemeClr val="tx2"/>
                </a:solidFill>
              </a:rPr>
              <a:t>1,726 of 2,145 frauds caught, with only 277 false alarms in 553,574 normal payments.</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Why Accuracy Is Not Enough</a:t>
            </a:r>
            <a:endParaRPr lang="en-US" sz="3200" dirty="0"/>
          </a:p>
        </p:txBody>
      </p:sp>
      <p:sp>
        <p:nvSpPr>
          <p:cNvPr id="3" name="Dummy card"/>
          <p:cNvSpPr/>
          <p:nvPr/>
        </p:nvSpPr>
        <p:spPr>
          <a:xfrm>
            <a:off x="548640" y="1325880"/>
            <a:ext cx="4206240" cy="4754880"/>
          </a:xfrm>
          <a:prstGeom prst="roundRect">
            <a:avLst>
              <a:gd name="adj" fmla="val 2609"/>
            </a:avLst>
          </a:prstGeom>
          <a:solidFill>
            <a:schemeClr val="bg2"/>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4" name="Dummy head"/>
          <p:cNvSpPr txBox="1"/>
          <p:nvPr/>
        </p:nvSpPr>
        <p:spPr>
          <a:xfrm>
            <a:off x="868680" y="1600200"/>
            <a:ext cx="3566160" cy="685800"/>
          </a:xfrm>
          <a:prstGeom prst="rect">
            <a:avLst/>
          </a:prstGeom>
          <a:noFill/>
          <a:ln/>
        </p:spPr>
        <p:txBody>
          <a:bodyPr wrap="square" lIns="0" tIns="0" rIns="0" bIns="0" rtlCol="0" anchor="t"/>
          <a:lstStyle/>
          <a:p>
            <a:pPr indent="0" marL="0">
              <a:buNone/>
            </a:pPr>
            <a:r>
              <a:rPr lang="en-US" sz="1800" b="1" dirty="0">
                <a:solidFill>
                  <a:schemeClr val="tx1"/>
                </a:solidFill>
              </a:rPr>
              <a:t>A model that always says “normal”</a:t>
            </a:r>
            <a:endParaRPr lang="en-US" sz="1800" dirty="0"/>
          </a:p>
        </p:txBody>
      </p:sp>
      <p:sp>
        <p:nvSpPr>
          <p:cNvPr id="5" name="Dummy accuracy"/>
          <p:cNvSpPr txBox="1"/>
          <p:nvPr/>
        </p:nvSpPr>
        <p:spPr>
          <a:xfrm>
            <a:off x="868680" y="2377440"/>
            <a:ext cx="3566160" cy="914400"/>
          </a:xfrm>
          <a:prstGeom prst="rect">
            <a:avLst/>
          </a:prstGeom>
          <a:noFill/>
          <a:ln/>
        </p:spPr>
        <p:txBody>
          <a:bodyPr wrap="square" lIns="0" tIns="0" rIns="0" bIns="0" rtlCol="0" anchor="ctr"/>
          <a:lstStyle/>
          <a:p>
            <a:pPr indent="0" marL="0">
              <a:buNone/>
            </a:pPr>
            <a:r>
              <a:rPr lang="en-US" sz="6000" b="1" dirty="0">
                <a:solidFill>
                  <a:schemeClr val="tx2"/>
                </a:solidFill>
                <a:latin typeface="Aptos Display" pitchFamily="34" charset="0"/>
                <a:ea typeface="Aptos Display" pitchFamily="34" charset="-122"/>
                <a:cs typeface="Aptos Display" pitchFamily="34" charset="-120"/>
              </a:rPr>
              <a:t>99.6%</a:t>
            </a:r>
            <a:endParaRPr lang="en-US" sz="6000" dirty="0"/>
          </a:p>
        </p:txBody>
      </p:sp>
      <p:sp>
        <p:nvSpPr>
          <p:cNvPr id="6" name="Dummy accuracy label"/>
          <p:cNvSpPr txBox="1"/>
          <p:nvPr/>
        </p:nvSpPr>
        <p:spPr>
          <a:xfrm>
            <a:off x="868680" y="3291840"/>
            <a:ext cx="3566160" cy="365760"/>
          </a:xfrm>
          <a:prstGeom prst="rect">
            <a:avLst/>
          </a:prstGeom>
          <a:noFill/>
          <a:ln/>
        </p:spPr>
        <p:txBody>
          <a:bodyPr wrap="square" lIns="0" tIns="0" rIns="0" bIns="0" rtlCol="0" anchor="ctr"/>
          <a:lstStyle/>
          <a:p>
            <a:pPr indent="0" marL="0">
              <a:buNone/>
            </a:pPr>
            <a:r>
              <a:rPr lang="en-US" sz="1600" dirty="0">
                <a:solidFill>
                  <a:schemeClr val="accent4"/>
                </a:solidFill>
              </a:rPr>
              <a:t>accuracy</a:t>
            </a:r>
            <a:endParaRPr lang="en-US" sz="1600" dirty="0"/>
          </a:p>
        </p:txBody>
      </p:sp>
      <p:sp>
        <p:nvSpPr>
          <p:cNvPr id="7" name="Dummy recall"/>
          <p:cNvSpPr txBox="1"/>
          <p:nvPr/>
        </p:nvSpPr>
        <p:spPr>
          <a:xfrm>
            <a:off x="868680" y="3931920"/>
            <a:ext cx="3566160" cy="914400"/>
          </a:xfrm>
          <a:prstGeom prst="rect">
            <a:avLst/>
          </a:prstGeom>
          <a:noFill/>
          <a:ln/>
        </p:spPr>
        <p:txBody>
          <a:bodyPr wrap="square" lIns="0" tIns="0" rIns="0" bIns="0" rtlCol="0" anchor="ctr"/>
          <a:lstStyle/>
          <a:p>
            <a:pPr indent="0" marL="0">
              <a:buNone/>
            </a:pPr>
            <a:r>
              <a:rPr lang="en-US" sz="6000" b="1" dirty="0">
                <a:solidFill>
                  <a:schemeClr val="accent1"/>
                </a:solidFill>
                <a:latin typeface="Aptos Display" pitchFamily="34" charset="0"/>
                <a:ea typeface="Aptos Display" pitchFamily="34" charset="-122"/>
                <a:cs typeface="Aptos Display" pitchFamily="34" charset="-120"/>
              </a:rPr>
              <a:t>0%</a:t>
            </a:r>
            <a:endParaRPr lang="en-US" sz="6000" dirty="0"/>
          </a:p>
        </p:txBody>
      </p:sp>
      <p:sp>
        <p:nvSpPr>
          <p:cNvPr id="8" name="Dummy recall label"/>
          <p:cNvSpPr txBox="1"/>
          <p:nvPr/>
        </p:nvSpPr>
        <p:spPr>
          <a:xfrm>
            <a:off x="868680" y="4846320"/>
            <a:ext cx="3566160" cy="685800"/>
          </a:xfrm>
          <a:prstGeom prst="rect">
            <a:avLst/>
          </a:prstGeom>
          <a:noFill/>
          <a:ln/>
        </p:spPr>
        <p:txBody>
          <a:bodyPr wrap="square" lIns="0" tIns="0" rIns="0" bIns="0" rtlCol="0" anchor="t"/>
          <a:lstStyle/>
          <a:p>
            <a:pPr indent="0" marL="0">
              <a:buNone/>
            </a:pPr>
            <a:r>
              <a:rPr lang="en-US" sz="1600" dirty="0">
                <a:solidFill>
                  <a:schemeClr val="accent4"/>
                </a:solidFill>
              </a:rPr>
              <a:t>of fraud caught. High accuracy, useless model.</a:t>
            </a:r>
            <a:endParaRPr lang="en-US" sz="1600" dirty="0"/>
          </a:p>
        </p:txBody>
      </p:sp>
      <p:sp>
        <p:nvSpPr>
          <p:cNvPr id="9" name="Tuning head"/>
          <p:cNvSpPr txBox="1"/>
          <p:nvPr/>
        </p:nvSpPr>
        <p:spPr>
          <a:xfrm>
            <a:off x="5120640" y="1325880"/>
            <a:ext cx="6522415" cy="411480"/>
          </a:xfrm>
          <a:prstGeom prst="rect">
            <a:avLst/>
          </a:prstGeom>
          <a:noFill/>
          <a:ln/>
        </p:spPr>
        <p:txBody>
          <a:bodyPr wrap="square" lIns="0" tIns="0" rIns="0" bIns="0" rtlCol="0" anchor="ctr"/>
          <a:lstStyle/>
          <a:p>
            <a:pPr indent="0" marL="0">
              <a:buNone/>
            </a:pPr>
            <a:r>
              <a:rPr lang="en-US" sz="1800" b="1" dirty="0">
                <a:solidFill>
                  <a:schemeClr val="tx1"/>
                </a:solidFill>
              </a:rPr>
              <a:t>Threshold tuning: default vs tuned</a:t>
            </a:r>
            <a:endParaRPr lang="en-US" sz="1800" dirty="0"/>
          </a:p>
        </p:txBody>
      </p:sp>
      <p:graphicFrame>
        <p:nvGraphicFramePr>
          <p:cNvPr id="8" name="Tuning table"/>
          <p:cNvGraphicFramePr>
            <a:graphicFrameLocks noGrp="1"/>
          </p:cNvGraphicFramePr>
          <p:nvPr>
            <p:extLst>
              <p:ext uri="{D42A27DB-BD31-4B8C-83A1-F6EECF244321}">
                <p14:modId xmlns:p14="http://schemas.microsoft.com/office/powerpoint/2010/main" val="1579011935"/>
              </p:ext>
            </p:extLst>
          </p:nvPr>
        </p:nvGraphicFramePr>
        <p:xfrm>
          <a:off x="5120640" y="1874520"/>
          <a:ext cx="6522415" cy="914400"/>
        </p:xfrm>
        <a:graphic>
          <a:graphicData uri="http://schemas.openxmlformats.org/drawingml/2006/table">
            <a:tbl>
              <a:tblPr/>
              <a:tblGrid>
                <a:gridCol w="2377440"/>
                <a:gridCol w="2084832"/>
                <a:gridCol w="2057400"/>
              </a:tblGrid>
              <a:tr h="475488">
                <a:tc>
                  <a:txBody>
                    <a:bodyPr/>
                    <a:lstStyle/>
                    <a:p>
                      <a:pPr algn="l" indent="0" marL="0">
                        <a:buNone/>
                      </a:pPr>
                      <a:r>
                        <a:rPr lang="en-US" sz="1600" b="1" dirty="0">
                          <a:solidFill>
                            <a:schemeClr val="tx2"/>
                          </a:solidFill>
                          <a:latin typeface="Aptos" pitchFamily="34" charset="0"/>
                          <a:ea typeface="Aptos" pitchFamily="34" charset="-122"/>
                          <a:cs typeface="Aptos" pitchFamily="34" charset="-120"/>
                        </a:rPr>
                        <a:t>Metric</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2"/>
                          </a:solidFill>
                          <a:latin typeface="Aptos" pitchFamily="34" charset="0"/>
                          <a:ea typeface="Aptos" pitchFamily="34" charset="-122"/>
                          <a:cs typeface="Aptos" pitchFamily="34" charset="-120"/>
                        </a:rPr>
                        <a:t>Default 0.5</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2"/>
                          </a:solidFill>
                          <a:latin typeface="Aptos" pitchFamily="34" charset="0"/>
                          <a:ea typeface="Aptos" pitchFamily="34" charset="-122"/>
                          <a:cs typeface="Aptos" pitchFamily="34" charset="-120"/>
                        </a:rPr>
                        <a:t>Tuned 0.974</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solidFill>
                      <a:schemeClr val="bg2"/>
                    </a:solidFill>
                  </a:tcPr>
                </a:tc>
              </a:tr>
              <a:tr h="475488">
                <a:tc>
                  <a:txBody>
                    <a:bodyPr/>
                    <a:lstStyle/>
                    <a:p>
                      <a:pPr algn="l" indent="0" marL="0">
                        <a:buNone/>
                      </a:pPr>
                      <a:r>
                        <a:rPr lang="en-US" sz="1600" dirty="0">
                          <a:solidFill>
                            <a:schemeClr val="tx1"/>
                          </a:solidFill>
                          <a:latin typeface="Aptos" pitchFamily="34" charset="0"/>
                          <a:ea typeface="Aptos" pitchFamily="34" charset="-122"/>
                          <a:cs typeface="Aptos" pitchFamily="34" charset="-120"/>
                        </a:rPr>
                        <a:t>Precision</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c>
                  <a:txBody>
                    <a:bodyPr/>
                    <a:lstStyle/>
                    <a:p>
                      <a:pPr algn="ctr" indent="0" marL="0">
                        <a:buNone/>
                      </a:pPr>
                      <a:r>
                        <a:rPr lang="en-US" sz="1600" dirty="0">
                          <a:solidFill>
                            <a:schemeClr val="accent4"/>
                          </a:solidFill>
                          <a:latin typeface="Aptos" pitchFamily="34" charset="0"/>
                          <a:ea typeface="Aptos" pitchFamily="34" charset="-122"/>
                          <a:cs typeface="Aptos" pitchFamily="34" charset="-120"/>
                        </a:rPr>
                        <a:t>46.4%</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c>
                  <a:txBody>
                    <a:bodyPr/>
                    <a:lstStyle/>
                    <a:p>
                      <a:pPr algn="ctr" indent="0" marL="0">
                        <a:buNone/>
                      </a:pPr>
                      <a:r>
                        <a:rPr lang="en-US" sz="1600" b="1" dirty="0">
                          <a:solidFill>
                            <a:schemeClr val="accent1"/>
                          </a:solidFill>
                          <a:latin typeface="Aptos" pitchFamily="34" charset="0"/>
                          <a:ea typeface="Aptos" pitchFamily="34" charset="-122"/>
                          <a:cs typeface="Aptos" pitchFamily="34" charset="-120"/>
                        </a:rPr>
                        <a:t>86.2%</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r>
              <a:tr h="475488">
                <a:tc>
                  <a:txBody>
                    <a:bodyPr/>
                    <a:lstStyle/>
                    <a:p>
                      <a:pPr algn="l" indent="0" marL="0">
                        <a:buNone/>
                      </a:pPr>
                      <a:r>
                        <a:rPr lang="en-US" sz="1600" dirty="0">
                          <a:solidFill>
                            <a:schemeClr val="tx1"/>
                          </a:solidFill>
                          <a:latin typeface="Aptos" pitchFamily="34" charset="0"/>
                          <a:ea typeface="Aptos" pitchFamily="34" charset="-122"/>
                          <a:cs typeface="Aptos" pitchFamily="34" charset="-120"/>
                        </a:rPr>
                        <a:t>Recall</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c>
                  <a:txBody>
                    <a:bodyPr/>
                    <a:lstStyle/>
                    <a:p>
                      <a:pPr algn="ctr" indent="0" marL="0">
                        <a:buNone/>
                      </a:pPr>
                      <a:r>
                        <a:rPr lang="en-US" sz="1600" dirty="0">
                          <a:solidFill>
                            <a:schemeClr val="accent4"/>
                          </a:solidFill>
                          <a:latin typeface="Aptos" pitchFamily="34" charset="0"/>
                          <a:ea typeface="Aptos" pitchFamily="34" charset="-122"/>
                          <a:cs typeface="Aptos" pitchFamily="34" charset="-120"/>
                        </a:rPr>
                        <a:t>93.4%</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c>
                  <a:txBody>
                    <a:bodyPr/>
                    <a:lstStyle/>
                    <a:p>
                      <a:pPr algn="ctr" indent="0" marL="0">
                        <a:buNone/>
                      </a:pPr>
                      <a:r>
                        <a:rPr lang="en-US" sz="1600" b="1" dirty="0">
                          <a:solidFill>
                            <a:schemeClr val="accent1"/>
                          </a:solidFill>
                          <a:latin typeface="Aptos" pitchFamily="34" charset="0"/>
                          <a:ea typeface="Aptos" pitchFamily="34" charset="-122"/>
                          <a:cs typeface="Aptos" pitchFamily="34" charset="-120"/>
                        </a:rPr>
                        <a:t>80.5%</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r>
              <a:tr h="475488">
                <a:tc>
                  <a:txBody>
                    <a:bodyPr/>
                    <a:lstStyle/>
                    <a:p>
                      <a:pPr algn="l" indent="0" marL="0">
                        <a:buNone/>
                      </a:pPr>
                      <a:r>
                        <a:rPr lang="en-US" sz="1600" dirty="0">
                          <a:solidFill>
                            <a:schemeClr val="tx1"/>
                          </a:solidFill>
                          <a:latin typeface="Aptos" pitchFamily="34" charset="0"/>
                          <a:ea typeface="Aptos" pitchFamily="34" charset="-122"/>
                          <a:cs typeface="Aptos" pitchFamily="34" charset="-120"/>
                        </a:rPr>
                        <a:t>F1 Score</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c>
                  <a:txBody>
                    <a:bodyPr/>
                    <a:lstStyle/>
                    <a:p>
                      <a:pPr algn="ctr" indent="0" marL="0">
                        <a:buNone/>
                      </a:pPr>
                      <a:r>
                        <a:rPr lang="en-US" sz="1600" dirty="0">
                          <a:solidFill>
                            <a:schemeClr val="accent4"/>
                          </a:solidFill>
                          <a:latin typeface="Aptos" pitchFamily="34" charset="0"/>
                          <a:ea typeface="Aptos" pitchFamily="34" charset="-122"/>
                          <a:cs typeface="Aptos" pitchFamily="34" charset="-120"/>
                        </a:rPr>
                        <a:t>62.0%</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c>
                  <a:txBody>
                    <a:bodyPr/>
                    <a:lstStyle/>
                    <a:p>
                      <a:pPr algn="ctr" indent="0" marL="0">
                        <a:buNone/>
                      </a:pPr>
                      <a:r>
                        <a:rPr lang="en-US" sz="1600" b="1" dirty="0">
                          <a:solidFill>
                            <a:schemeClr val="accent1"/>
                          </a:solidFill>
                          <a:latin typeface="Aptos" pitchFamily="34" charset="0"/>
                          <a:ea typeface="Aptos" pitchFamily="34" charset="-122"/>
                          <a:cs typeface="Aptos" pitchFamily="34" charset="-120"/>
                        </a:rPr>
                        <a:t>83.2%</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r>
              <a:tr h="475488">
                <a:tc>
                  <a:txBody>
                    <a:bodyPr/>
                    <a:lstStyle/>
                    <a:p>
                      <a:pPr algn="l" indent="0" marL="0">
                        <a:buNone/>
                      </a:pPr>
                      <a:r>
                        <a:rPr lang="en-US" sz="1600" dirty="0">
                          <a:solidFill>
                            <a:schemeClr val="tx1"/>
                          </a:solidFill>
                          <a:latin typeface="Aptos" pitchFamily="34" charset="0"/>
                          <a:ea typeface="Aptos" pitchFamily="34" charset="-122"/>
                          <a:cs typeface="Aptos" pitchFamily="34" charset="-120"/>
                        </a:rPr>
                        <a:t>False alarms</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c>
                  <a:txBody>
                    <a:bodyPr/>
                    <a:lstStyle/>
                    <a:p>
                      <a:pPr algn="ctr" indent="0" marL="0">
                        <a:buNone/>
                      </a:pPr>
                      <a:r>
                        <a:rPr lang="en-US" sz="1600" dirty="0">
                          <a:solidFill>
                            <a:schemeClr val="accent4"/>
                          </a:solidFill>
                          <a:latin typeface="Aptos" pitchFamily="34" charset="0"/>
                          <a:ea typeface="Aptos" pitchFamily="34" charset="-122"/>
                          <a:cs typeface="Aptos" pitchFamily="34" charset="-120"/>
                        </a:rPr>
                        <a:t>2,311</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c>
                  <a:txBody>
                    <a:bodyPr/>
                    <a:lstStyle/>
                    <a:p>
                      <a:pPr algn="ctr" indent="0" marL="0">
                        <a:buNone/>
                      </a:pPr>
                      <a:r>
                        <a:rPr lang="en-US" sz="1600" b="1" dirty="0">
                          <a:solidFill>
                            <a:schemeClr val="accent1"/>
                          </a:solidFill>
                          <a:latin typeface="Aptos" pitchFamily="34" charset="0"/>
                          <a:ea typeface="Aptos" pitchFamily="34" charset="-122"/>
                          <a:cs typeface="Aptos" pitchFamily="34" charset="-120"/>
                        </a:rPr>
                        <a:t>277</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r>
              <a:tr h="475488">
                <a:tc>
                  <a:txBody>
                    <a:bodyPr/>
                    <a:lstStyle/>
                    <a:p>
                      <a:pPr algn="l" indent="0" marL="0">
                        <a:buNone/>
                      </a:pPr>
                      <a:r>
                        <a:rPr lang="en-US" sz="1600" dirty="0">
                          <a:solidFill>
                            <a:schemeClr val="tx1"/>
                          </a:solidFill>
                          <a:latin typeface="Aptos" pitchFamily="34" charset="0"/>
                          <a:ea typeface="Aptos" pitchFamily="34" charset="-122"/>
                          <a:cs typeface="Aptos" pitchFamily="34" charset="-120"/>
                        </a:rPr>
                        <a:t>Frauds caught</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c>
                  <a:txBody>
                    <a:bodyPr/>
                    <a:lstStyle/>
                    <a:p>
                      <a:pPr algn="ctr" indent="0" marL="0">
                        <a:buNone/>
                      </a:pPr>
                      <a:r>
                        <a:rPr lang="en-US" sz="1600" dirty="0">
                          <a:solidFill>
                            <a:schemeClr val="accent4"/>
                          </a:solidFill>
                          <a:latin typeface="Aptos" pitchFamily="34" charset="0"/>
                          <a:ea typeface="Aptos" pitchFamily="34" charset="-122"/>
                          <a:cs typeface="Aptos" pitchFamily="34" charset="-120"/>
                        </a:rPr>
                        <a:t>2,004</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c>
                  <a:txBody>
                    <a:bodyPr/>
                    <a:lstStyle/>
                    <a:p>
                      <a:pPr algn="ctr" indent="0" marL="0">
                        <a:buNone/>
                      </a:pPr>
                      <a:r>
                        <a:rPr lang="en-US" sz="1600" b="1" dirty="0">
                          <a:solidFill>
                            <a:schemeClr val="accent1"/>
                          </a:solidFill>
                          <a:latin typeface="Aptos" pitchFamily="34" charset="0"/>
                          <a:ea typeface="Aptos" pitchFamily="34" charset="-122"/>
                          <a:cs typeface="Aptos" pitchFamily="34" charset="-120"/>
                        </a:rPr>
                        <a:t>1,726</a:t>
                      </a:r>
                      <a:endParaRPr lang="en-US" sz="1600" dirty="0">
                        <a:latin typeface="Aptos" charset="0"/>
                        <a:ea typeface="Aptos" charset="0"/>
                        <a:cs typeface="Aptos" charset="0"/>
                      </a:endParaRPr>
                    </a:p>
                  </a:txBody>
                  <a:tcPr marL="137160" marR="137160" marT="0" marB="0" anchor="ctr">
                    <a:lnL w="9525" cap="flat" cmpd="sng" algn="ctr">
                      <a:solidFill>
                        <a:srgbClr val="E9ECEF"/>
                      </a:solidFill>
                      <a:prstDash val="solid"/>
                      <a:round/>
                      <a:headEnd type="none" w="med" len="med"/>
                      <a:tailEnd type="none" w="med" len="med"/>
                    </a:lnL>
                    <a:lnR w="9525" cap="flat" cmpd="sng" algn="ctr">
                      <a:solidFill>
                        <a:srgbClr val="E9ECEF"/>
                      </a:solidFill>
                      <a:prstDash val="solid"/>
                      <a:round/>
                      <a:headEnd type="none" w="med" len="med"/>
                      <a:tailEnd type="none" w="med" len="med"/>
                    </a:lnR>
                    <a:lnT w="9525" cap="flat" cmpd="sng" algn="ctr">
                      <a:solidFill>
                        <a:srgbClr val="E9ECEF"/>
                      </a:solidFill>
                      <a:prstDash val="solid"/>
                      <a:round/>
                      <a:headEnd type="none" w="med" len="med"/>
                      <a:tailEnd type="none" w="med" len="med"/>
                    </a:lnT>
                    <a:lnB w="9525" cap="flat" cmpd="sng" algn="ctr">
                      <a:solidFill>
                        <a:srgbClr val="E9ECEF"/>
                      </a:solidFill>
                      <a:prstDash val="solid"/>
                      <a:round/>
                      <a:headEnd type="none" w="med" len="med"/>
                      <a:tailEnd type="none" w="med" len="med"/>
                    </a:lnB>
                  </a:tcPr>
                </a:tc>
              </a:tr>
            </a:tbl>
          </a:graphicData>
        </a:graphic>
      </p:graphicFrame>
      <p:sp>
        <p:nvSpPr>
          <p:cNvPr id="11" name="Tuning callout"/>
          <p:cNvSpPr/>
          <p:nvPr/>
        </p:nvSpPr>
        <p:spPr>
          <a:xfrm>
            <a:off x="5120640" y="4937760"/>
            <a:ext cx="6522415" cy="960120"/>
          </a:xfrm>
          <a:prstGeom prst="roundRect">
            <a:avLst>
              <a:gd name="adj" fmla="val 9524"/>
            </a:avLst>
          </a:prstGeom>
          <a:solidFill>
            <a:schemeClr val="accent1">
              <a:alpha val="12000"/>
            </a:schemeClr>
          </a:solidFill>
          <a:ln/>
        </p:spPr>
      </p:sp>
      <p:sp>
        <p:nvSpPr>
          <p:cNvPr id="12" name="Callout tile"/>
          <p:cNvSpPr/>
          <p:nvPr/>
        </p:nvSpPr>
        <p:spPr>
          <a:xfrm>
            <a:off x="5349240" y="5138928"/>
            <a:ext cx="548640" cy="548640"/>
          </a:xfrm>
          <a:prstGeom prst="roundRect">
            <a:avLst>
              <a:gd name="adj" fmla="val 16667"/>
            </a:avLst>
          </a:prstGeom>
          <a:solidFill>
            <a:schemeClr val="accent1"/>
          </a:solidFill>
          <a:ln/>
        </p:spPr>
      </p:sp>
      <p:pic>
        <p:nvPicPr>
          <p:cNvPr id="13" name="Callout icon" descr="preencoded.png">    </p:cNvPr>
          <p:cNvPicPr>
            <a:picLocks noChangeAspect="1"/>
          </p:cNvPicPr>
          <p:nvPr/>
        </p:nvPicPr>
        <p:blipFill>
          <a:blip r:embed="rId1"/>
          <a:stretch>
            <a:fillRect/>
          </a:stretch>
        </p:blipFill>
        <p:spPr>
          <a:xfrm>
            <a:off x="5480914" y="5270602"/>
            <a:ext cx="285293" cy="285293"/>
          </a:xfrm>
          <a:prstGeom prst="rect">
            <a:avLst/>
          </a:prstGeom>
        </p:spPr>
      </p:pic>
      <p:sp>
        <p:nvSpPr>
          <p:cNvPr id="14" name="Tuning callout text"/>
          <p:cNvSpPr txBox="1"/>
          <p:nvPr/>
        </p:nvSpPr>
        <p:spPr>
          <a:xfrm>
            <a:off x="6080760" y="4983480"/>
            <a:ext cx="5333695" cy="868680"/>
          </a:xfrm>
          <a:prstGeom prst="rect">
            <a:avLst/>
          </a:prstGeom>
          <a:noFill/>
          <a:ln/>
        </p:spPr>
        <p:txBody>
          <a:bodyPr wrap="square" lIns="0" tIns="0" rIns="0" bIns="0" rtlCol="0" anchor="ctr"/>
          <a:lstStyle/>
          <a:p>
            <a:pPr indent="0" marL="0">
              <a:buNone/>
            </a:pPr>
            <a:r>
              <a:rPr lang="en-US" sz="1700" b="1" dirty="0">
                <a:solidFill>
                  <a:schemeClr val="tx2"/>
                </a:solidFill>
              </a:rPr>
              <a:t>88% fewer false alarms</a:t>
            </a:r>
            <a:endParaRPr lang="en-US" sz="1700" dirty="0"/>
          </a:p>
          <a:p>
            <a:pPr indent="0" marL="0">
              <a:buNone/>
            </a:pPr>
            <a:r>
              <a:rPr lang="en-US" sz="1400" dirty="0">
                <a:solidFill>
                  <a:schemeClr val="accent4"/>
                </a:solidFill>
              </a:rPr>
              <a:t>for a small drop in recall. Fewer genuine customers get blocked.</a:t>
            </a:r>
            <a:endParaRPr lang="en-US" sz="17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FraudShield: Agent-Style CLI</a:t>
            </a:r>
            <a:endParaRPr lang="en-US" sz="3200" dirty="0"/>
          </a:p>
        </p:txBody>
      </p:sp>
      <p:sp>
        <p:nvSpPr>
          <p:cNvPr id="3" name="Terminal"/>
          <p:cNvSpPr/>
          <p:nvPr/>
        </p:nvSpPr>
        <p:spPr>
          <a:xfrm>
            <a:off x="548640" y="1325880"/>
            <a:ext cx="6400800" cy="4754880"/>
          </a:xfrm>
          <a:prstGeom prst="roundRect">
            <a:avLst>
              <a:gd name="adj" fmla="val 2308"/>
            </a:avLst>
          </a:prstGeom>
          <a:solidFill>
            <a:srgbClr val="1E2430"/>
          </a:solidFill>
          <a:ln/>
          <a:effectLst>
            <a:outerShdw sx="100000" sy="100000" kx="0" ky="0" algn="bl" rotWithShape="0" blurRad="127000" dist="25400" dir="5400000">
              <a:srgbClr val="000000">
                <a:alpha val="10000"/>
              </a:srgbClr>
            </a:outerShdw>
          </a:effectLst>
        </p:spPr>
      </p:sp>
      <p:sp>
        <p:nvSpPr>
          <p:cNvPr id="4" name="Window dot 1"/>
          <p:cNvSpPr/>
          <p:nvPr/>
        </p:nvSpPr>
        <p:spPr>
          <a:xfrm>
            <a:off x="777240" y="1508760"/>
            <a:ext cx="128016" cy="128016"/>
          </a:xfrm>
          <a:prstGeom prst="ellipse">
            <a:avLst/>
          </a:prstGeom>
          <a:solidFill>
            <a:srgbClr val="FF5F57"/>
          </a:solidFill>
          <a:ln/>
        </p:spPr>
      </p:sp>
      <p:sp>
        <p:nvSpPr>
          <p:cNvPr id="5" name="Window dot 2"/>
          <p:cNvSpPr/>
          <p:nvPr/>
        </p:nvSpPr>
        <p:spPr>
          <a:xfrm>
            <a:off x="1005840" y="1508760"/>
            <a:ext cx="128016" cy="128016"/>
          </a:xfrm>
          <a:prstGeom prst="ellipse">
            <a:avLst/>
          </a:prstGeom>
          <a:solidFill>
            <a:srgbClr val="FEBC2E"/>
          </a:solidFill>
          <a:ln/>
        </p:spPr>
      </p:sp>
      <p:sp>
        <p:nvSpPr>
          <p:cNvPr id="6" name="Window dot 3"/>
          <p:cNvSpPr/>
          <p:nvPr/>
        </p:nvSpPr>
        <p:spPr>
          <a:xfrm>
            <a:off x="1234440" y="1508760"/>
            <a:ext cx="128016" cy="128016"/>
          </a:xfrm>
          <a:prstGeom prst="ellipse">
            <a:avLst/>
          </a:prstGeom>
          <a:solidFill>
            <a:srgbClr val="28C840"/>
          </a:solidFill>
          <a:ln/>
        </p:spPr>
      </p:sp>
      <p:sp>
        <p:nvSpPr>
          <p:cNvPr id="7" name="Terminal title"/>
          <p:cNvSpPr txBox="1"/>
          <p:nvPr/>
        </p:nvSpPr>
        <p:spPr>
          <a:xfrm>
            <a:off x="1645920" y="1435608"/>
            <a:ext cx="4206240" cy="274320"/>
          </a:xfrm>
          <a:prstGeom prst="rect">
            <a:avLst/>
          </a:prstGeom>
          <a:noFill/>
          <a:ln/>
        </p:spPr>
        <p:txBody>
          <a:bodyPr wrap="square" lIns="0" tIns="0" rIns="0" bIns="0" rtlCol="0" anchor="ctr"/>
          <a:lstStyle/>
          <a:p>
            <a:pPr algn="ctr" indent="0" marL="0">
              <a:buNone/>
            </a:pPr>
            <a:r>
              <a:rPr lang="en-US" sz="1100" dirty="0">
                <a:solidFill>
                  <a:srgbClr val="9AA0A6"/>
                </a:solidFill>
              </a:rPr>
              <a:t>uv run cli.py</a:t>
            </a:r>
            <a:endParaRPr lang="en-US" sz="1100" dirty="0"/>
          </a:p>
        </p:txBody>
      </p:sp>
      <p:sp>
        <p:nvSpPr>
          <p:cNvPr id="8" name="Terminal output"/>
          <p:cNvSpPr txBox="1"/>
          <p:nvPr/>
        </p:nvSpPr>
        <p:spPr>
          <a:xfrm>
            <a:off x="868680" y="1874520"/>
            <a:ext cx="5852160" cy="4023360"/>
          </a:xfrm>
          <a:prstGeom prst="rect">
            <a:avLst/>
          </a:prstGeom>
          <a:noFill/>
          <a:ln/>
        </p:spPr>
        <p:txBody>
          <a:bodyPr wrap="square" lIns="0" tIns="0" rIns="0" bIns="0" rtlCol="0" anchor="t"/>
          <a:lstStyle/>
          <a:p>
            <a:pPr indent="0" marL="0">
              <a:lnSpc>
                <a:spcPct val="105000"/>
              </a:lnSpc>
              <a:buNone/>
            </a:pPr>
            <a:r>
              <a:rPr lang="en-US" sz="1500" b="1" dirty="0">
                <a:solidFill>
                  <a:srgbClr val="20BFE0"/>
                </a:solidFill>
                <a:latin typeface="Consolas" pitchFamily="34" charset="0"/>
                <a:ea typeface="Consolas" pitchFamily="34" charset="-122"/>
                <a:cs typeface="Consolas" pitchFamily="34" charset="-120"/>
              </a:rPr>
              <a:t>◆ FraudShield</a:t>
            </a:r>
            <a:pPr indent="0" marL="0">
              <a:lnSpc>
                <a:spcPct val="105000"/>
              </a:lnSpc>
              <a:buNone/>
            </a:pPr>
            <a:r>
              <a:rPr lang="en-US" sz="1500" dirty="0">
                <a:solidFill>
                  <a:srgbClr val="9AA0A6"/>
                </a:solidFill>
                <a:latin typeface="Consolas" pitchFamily="34" charset="0"/>
                <a:ea typeface="Consolas" pitchFamily="34" charset="-122"/>
                <a:cs typeface="Consolas" pitchFamily="34" charset="-120"/>
              </a:rPr>
              <a:t>  credit card fraud detection agent</a:t>
            </a:r>
            <a:endParaRPr lang="en-US" sz="1500" dirty="0"/>
          </a:p>
          <a:p>
            <a:pPr indent="0" marL="0">
              <a:lnSpc>
                <a:spcPct val="105000"/>
              </a:lnSpc>
              <a:buNone/>
            </a:pPr>
            <a:r>
              <a:rPr lang="en-US" sz="1500" dirty="0">
                <a:solidFill>
                  <a:srgbClr val="E8EAED"/>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20BFE0"/>
                </a:solidFill>
                <a:latin typeface="Consolas" pitchFamily="34" charset="0"/>
                <a:ea typeface="Consolas" pitchFamily="34" charset="-122"/>
                <a:cs typeface="Consolas" pitchFamily="34" charset="-120"/>
              </a:rPr>
              <a:t>● </a:t>
            </a:r>
            <a:pPr indent="0" marL="0">
              <a:lnSpc>
                <a:spcPct val="105000"/>
              </a:lnSpc>
              <a:buNone/>
            </a:pPr>
            <a:r>
              <a:rPr lang="en-US" sz="1500" dirty="0">
                <a:solidFill>
                  <a:srgbClr val="E8EAED"/>
                </a:solidFill>
                <a:latin typeface="Consolas" pitchFamily="34" charset="0"/>
                <a:ea typeface="Consolas" pitchFamily="34" charset="-122"/>
                <a:cs typeface="Consolas" pitchFamily="34" charset="-120"/>
              </a:rPr>
              <a:t>Analyzing the transaction.</a:t>
            </a:r>
            <a:endParaRPr lang="en-US" sz="1500" dirty="0"/>
          </a:p>
          <a:p>
            <a:pPr indent="0" marL="0">
              <a:lnSpc>
                <a:spcPct val="105000"/>
              </a:lnSpc>
              <a:buNone/>
            </a:pPr>
            <a:r>
              <a:rPr lang="en-US" sz="1500" dirty="0">
                <a:solidFill>
                  <a:srgbClr val="5BD68A"/>
                </a:solidFill>
                <a:latin typeface="Consolas" pitchFamily="34" charset="0"/>
                <a:ea typeface="Consolas" pitchFamily="34" charset="-122"/>
                <a:cs typeface="Consolas" pitchFamily="34" charset="-120"/>
              </a:rPr>
              <a:t>  ✓ </a:t>
            </a:r>
            <a:pPr indent="0" marL="0">
              <a:lnSpc>
                <a:spcPct val="105000"/>
              </a:lnSpc>
              <a:buNone/>
            </a:pPr>
            <a:r>
              <a:rPr lang="en-US" sz="1500" dirty="0">
                <a:solidFill>
                  <a:srgbClr val="E8EAED"/>
                </a:solidFill>
                <a:latin typeface="Consolas" pitchFamily="34" charset="0"/>
                <a:ea typeface="Consolas" pitchFamily="34" charset="-122"/>
                <a:cs typeface="Consolas" pitchFamily="34" charset="-120"/>
              </a:rPr>
              <a:t>Validating card  </a:t>
            </a:r>
            <a:pPr indent="0" marL="0">
              <a:lnSpc>
                <a:spcPct val="105000"/>
              </a:lnSpc>
              <a:buNone/>
            </a:pPr>
            <a:r>
              <a:rPr lang="en-US" sz="1500" dirty="0">
                <a:solidFill>
                  <a:srgbClr val="9AA0A6"/>
                </a:solidFill>
                <a:latin typeface="Consolas" pitchFamily="34" charset="0"/>
                <a:ea typeface="Consolas" pitchFamily="34" charset="-122"/>
                <a:cs typeface="Consolas" pitchFamily="34" charset="-120"/>
              </a:rPr>
              <a:t>Mastercard •••• 2346 · Luhn passed</a:t>
            </a:r>
            <a:endParaRPr lang="en-US" sz="1500" dirty="0"/>
          </a:p>
          <a:p>
            <a:pPr indent="0" marL="0">
              <a:lnSpc>
                <a:spcPct val="105000"/>
              </a:lnSpc>
              <a:buNone/>
            </a:pPr>
            <a:r>
              <a:rPr lang="en-US" sz="1500" dirty="0">
                <a:solidFill>
                  <a:srgbClr val="5BD68A"/>
                </a:solidFill>
                <a:latin typeface="Consolas" pitchFamily="34" charset="0"/>
                <a:ea typeface="Consolas" pitchFamily="34" charset="-122"/>
                <a:cs typeface="Consolas" pitchFamily="34" charset="-120"/>
              </a:rPr>
              <a:t>  ✓ </a:t>
            </a:r>
            <a:pPr indent="0" marL="0">
              <a:lnSpc>
                <a:spcPct val="105000"/>
              </a:lnSpc>
              <a:buNone/>
            </a:pPr>
            <a:r>
              <a:rPr lang="en-US" sz="1500" dirty="0">
                <a:solidFill>
                  <a:srgbClr val="E8EAED"/>
                </a:solidFill>
                <a:latin typeface="Consolas" pitchFamily="34" charset="0"/>
                <a:ea typeface="Consolas" pitchFamily="34" charset="-122"/>
                <a:cs typeface="Consolas" pitchFamily="34" charset="-120"/>
              </a:rPr>
              <a:t>Building features  </a:t>
            </a:r>
            <a:pPr indent="0" marL="0">
              <a:lnSpc>
                <a:spcPct val="105000"/>
              </a:lnSpc>
              <a:buNone/>
            </a:pPr>
            <a:r>
              <a:rPr lang="en-US" sz="1500" dirty="0">
                <a:solidFill>
                  <a:srgbClr val="9AA0A6"/>
                </a:solidFill>
                <a:latin typeface="Consolas" pitchFamily="34" charset="0"/>
                <a:ea typeface="Consolas" pitchFamily="34" charset="-122"/>
                <a:cs typeface="Consolas" pitchFamily="34" charset="-120"/>
              </a:rPr>
              <a:t>11.7x usual · 5 txns in 24h</a:t>
            </a:r>
            <a:endParaRPr lang="en-US" sz="1500" dirty="0"/>
          </a:p>
          <a:p>
            <a:pPr indent="0" marL="0">
              <a:lnSpc>
                <a:spcPct val="105000"/>
              </a:lnSpc>
              <a:buNone/>
            </a:pPr>
            <a:r>
              <a:rPr lang="en-US" sz="1500" dirty="0">
                <a:solidFill>
                  <a:srgbClr val="5BD68A"/>
                </a:solidFill>
                <a:latin typeface="Consolas" pitchFamily="34" charset="0"/>
                <a:ea typeface="Consolas" pitchFamily="34" charset="-122"/>
                <a:cs typeface="Consolas" pitchFamily="34" charset="-120"/>
              </a:rPr>
              <a:t>  ✓ </a:t>
            </a:r>
            <a:pPr indent="0" marL="0">
              <a:lnSpc>
                <a:spcPct val="105000"/>
              </a:lnSpc>
              <a:buNone/>
            </a:pPr>
            <a:r>
              <a:rPr lang="en-US" sz="1500" dirty="0">
                <a:solidFill>
                  <a:srgbClr val="E8EAED"/>
                </a:solidFill>
                <a:latin typeface="Consolas" pitchFamily="34" charset="0"/>
                <a:ea typeface="Consolas" pitchFamily="34" charset="-122"/>
                <a:cs typeface="Consolas" pitchFamily="34" charset="-120"/>
              </a:rPr>
              <a:t>Running XGBoost model  </a:t>
            </a:r>
            <a:pPr indent="0" marL="0">
              <a:lnSpc>
                <a:spcPct val="105000"/>
              </a:lnSpc>
              <a:buNone/>
            </a:pPr>
            <a:r>
              <a:rPr lang="en-US" sz="1500" dirty="0">
                <a:solidFill>
                  <a:srgbClr val="9AA0A6"/>
                </a:solidFill>
                <a:latin typeface="Consolas" pitchFamily="34" charset="0"/>
                <a:ea typeface="Consolas" pitchFamily="34" charset="-122"/>
                <a:cs typeface="Consolas" pitchFamily="34" charset="-120"/>
              </a:rPr>
              <a:t>probability 1.0000</a:t>
            </a:r>
            <a:endParaRPr lang="en-US" sz="1500" dirty="0"/>
          </a:p>
          <a:p>
            <a:pPr indent="0" marL="0">
              <a:lnSpc>
                <a:spcPct val="105000"/>
              </a:lnSpc>
              <a:buNone/>
            </a:pPr>
            <a:r>
              <a:rPr lang="en-US" sz="1500" dirty="0">
                <a:solidFill>
                  <a:srgbClr val="5BD68A"/>
                </a:solidFill>
                <a:latin typeface="Consolas" pitchFamily="34" charset="0"/>
                <a:ea typeface="Consolas" pitchFamily="34" charset="-122"/>
                <a:cs typeface="Consolas" pitchFamily="34" charset="-120"/>
              </a:rPr>
              <a:t>  ✓ </a:t>
            </a:r>
            <a:pPr indent="0" marL="0">
              <a:lnSpc>
                <a:spcPct val="105000"/>
              </a:lnSpc>
              <a:buNone/>
            </a:pPr>
            <a:r>
              <a:rPr lang="en-US" sz="1500" dirty="0">
                <a:solidFill>
                  <a:srgbClr val="E8EAED"/>
                </a:solidFill>
                <a:latin typeface="Consolas" pitchFamily="34" charset="0"/>
                <a:ea typeface="Consolas" pitchFamily="34" charset="-122"/>
                <a:cs typeface="Consolas" pitchFamily="34" charset="-120"/>
              </a:rPr>
              <a:t>Explaining the decision  </a:t>
            </a:r>
            <a:pPr indent="0" marL="0">
              <a:lnSpc>
                <a:spcPct val="105000"/>
              </a:lnSpc>
              <a:buNone/>
            </a:pPr>
            <a:r>
              <a:rPr lang="en-US" sz="1500" dirty="0">
                <a:solidFill>
                  <a:srgbClr val="9AA0A6"/>
                </a:solidFill>
                <a:latin typeface="Consolas" pitchFamily="34" charset="0"/>
                <a:ea typeface="Consolas" pitchFamily="34" charset="-122"/>
                <a:cs typeface="Consolas" pitchFamily="34" charset="-120"/>
              </a:rPr>
              <a:t>top 4 factors</a:t>
            </a:r>
            <a:endParaRPr lang="en-US" sz="1500" dirty="0"/>
          </a:p>
          <a:p>
            <a:pPr indent="0" marL="0">
              <a:lnSpc>
                <a:spcPct val="105000"/>
              </a:lnSpc>
              <a:buNone/>
            </a:pPr>
            <a:r>
              <a:rPr lang="en-US" sz="1500" dirty="0">
                <a:solidFill>
                  <a:srgbClr val="E8EAED"/>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b="1" dirty="0">
                <a:solidFill>
                  <a:srgbClr val="FF6B6B"/>
                </a:solidFill>
                <a:latin typeface="Consolas" pitchFamily="34" charset="0"/>
                <a:ea typeface="Consolas" pitchFamily="34" charset="-122"/>
                <a:cs typeface="Consolas" pitchFamily="34" charset="-120"/>
              </a:rPr>
              <a:t>✖ HIGH RISK · Likely FRAUD</a:t>
            </a:r>
            <a:endParaRPr lang="en-US" sz="1500" dirty="0"/>
          </a:p>
          <a:p>
            <a:pPr indent="0" marL="0">
              <a:lnSpc>
                <a:spcPct val="105000"/>
              </a:lnSpc>
              <a:buNone/>
            </a:pPr>
            <a:r>
              <a:rPr lang="en-US" sz="1500" dirty="0">
                <a:solidFill>
                  <a:srgbClr val="9AA0A6"/>
                </a:solidFill>
                <a:latin typeface="Consolas" pitchFamily="34" charset="0"/>
                <a:ea typeface="Consolas" pitchFamily="34" charset="-122"/>
                <a:cs typeface="Consolas" pitchFamily="34" charset="-120"/>
              </a:rPr>
              <a:t>  Amount  </a:t>
            </a:r>
            <a:pPr indent="0" marL="0">
              <a:lnSpc>
                <a:spcPct val="105000"/>
              </a:lnSpc>
              <a:buNone/>
            </a:pPr>
            <a:r>
              <a:rPr lang="en-US" sz="1500" dirty="0">
                <a:solidFill>
                  <a:srgbClr val="E8EAED"/>
                </a:solidFill>
                <a:latin typeface="Consolas" pitchFamily="34" charset="0"/>
                <a:ea typeface="Consolas" pitchFamily="34" charset="-122"/>
                <a:cs typeface="Consolas" pitchFamily="34" charset="-120"/>
              </a:rPr>
              <a:t>₹82,000 · Shopping (online)</a:t>
            </a:r>
            <a:endParaRPr lang="en-US" sz="1500" dirty="0"/>
          </a:p>
          <a:p>
            <a:pPr indent="0" marL="0">
              <a:lnSpc>
                <a:spcPct val="105000"/>
              </a:lnSpc>
              <a:buNone/>
            </a:pPr>
            <a:r>
              <a:rPr lang="en-US" sz="1500" dirty="0">
                <a:solidFill>
                  <a:srgbClr val="9AA0A6"/>
                </a:solidFill>
                <a:latin typeface="Consolas" pitchFamily="34" charset="0"/>
                <a:ea typeface="Consolas" pitchFamily="34" charset="-122"/>
                <a:cs typeface="Consolas" pitchFamily="34" charset="-120"/>
              </a:rPr>
              <a:t>  Risk    </a:t>
            </a:r>
            <a:pPr indent="0" marL="0">
              <a:lnSpc>
                <a:spcPct val="105000"/>
              </a:lnSpc>
              <a:buNone/>
            </a:pPr>
            <a:r>
              <a:rPr lang="en-US" sz="1500" dirty="0">
                <a:solidFill>
                  <a:srgbClr val="FF6B6B"/>
                </a:solidFill>
                <a:latin typeface="Consolas" pitchFamily="34" charset="0"/>
                <a:ea typeface="Consolas" pitchFamily="34" charset="-122"/>
                <a:cs typeface="Consolas" pitchFamily="34" charset="-120"/>
              </a:rPr>
              <a:t>██████████████████████ 100%</a:t>
            </a:r>
            <a:endParaRPr lang="en-US" sz="1500" dirty="0"/>
          </a:p>
          <a:p>
            <a:pPr indent="0" marL="0">
              <a:lnSpc>
                <a:spcPct val="105000"/>
              </a:lnSpc>
              <a:buNone/>
            </a:pPr>
            <a:r>
              <a:rPr lang="en-US" sz="1500" dirty="0">
                <a:solidFill>
                  <a:srgbClr val="9AA0A6"/>
                </a:solidFill>
                <a:latin typeface="Consolas" pitchFamily="34" charset="0"/>
                <a:ea typeface="Consolas" pitchFamily="34" charset="-122"/>
                <a:cs typeface="Consolas" pitchFamily="34" charset="-120"/>
              </a:rPr>
              <a:t>  Why     </a:t>
            </a:r>
            <a:pPr indent="0" marL="0">
              <a:lnSpc>
                <a:spcPct val="105000"/>
              </a:lnSpc>
              <a:buNone/>
            </a:pPr>
            <a:r>
              <a:rPr lang="en-US" sz="1500" dirty="0">
                <a:solidFill>
                  <a:srgbClr val="E8EAED"/>
                </a:solidFill>
                <a:latin typeface="Consolas" pitchFamily="34" charset="0"/>
                <a:ea typeface="Consolas" pitchFamily="34" charset="-122"/>
                <a:cs typeface="Consolas" pitchFamily="34" charset="-120"/>
              </a:rPr>
              <a:t>Amount ▲  Hour 23:00 ▲  Night ▲</a:t>
            </a:r>
            <a:endParaRPr lang="en-US" sz="1500" dirty="0"/>
          </a:p>
          <a:p>
            <a:pPr indent="0" marL="0">
              <a:lnSpc>
                <a:spcPct val="105000"/>
              </a:lnSpc>
              <a:buNone/>
            </a:pPr>
            <a:r>
              <a:rPr lang="en-US" sz="1500" dirty="0">
                <a:solidFill>
                  <a:srgbClr val="E8EAED"/>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20BFE0"/>
                </a:solidFill>
                <a:latin typeface="Consolas" pitchFamily="34" charset="0"/>
                <a:ea typeface="Consolas" pitchFamily="34" charset="-122"/>
                <a:cs typeface="Consolas" pitchFamily="34" charset="-120"/>
              </a:rPr>
              <a:t>● </a:t>
            </a:r>
            <a:pPr indent="0" marL="0">
              <a:lnSpc>
                <a:spcPct val="105000"/>
              </a:lnSpc>
              <a:buNone/>
            </a:pPr>
            <a:r>
              <a:rPr lang="en-US" sz="1500" b="1" dirty="0">
                <a:solidFill>
                  <a:srgbClr val="FF6B6B"/>
                </a:solidFill>
                <a:latin typeface="Consolas" pitchFamily="34" charset="0"/>
                <a:ea typeface="Consolas" pitchFamily="34" charset="-122"/>
                <a:cs typeface="Consolas" pitchFamily="34" charset="-120"/>
              </a:rPr>
              <a:t>Block this transaction and contact the cardholder.</a:t>
            </a:r>
            <a:endParaRPr lang="en-US" sz="1500" dirty="0"/>
          </a:p>
        </p:txBody>
      </p:sp>
      <p:sp>
        <p:nvSpPr>
          <p:cNvPr id="9" name="Indian card validation tile"/>
          <p:cNvSpPr/>
          <p:nvPr/>
        </p:nvSpPr>
        <p:spPr>
          <a:xfrm>
            <a:off x="7269480" y="1371600"/>
            <a:ext cx="566928" cy="566928"/>
          </a:xfrm>
          <a:prstGeom prst="roundRect">
            <a:avLst>
              <a:gd name="adj" fmla="val 16129"/>
            </a:avLst>
          </a:prstGeom>
          <a:solidFill>
            <a:schemeClr val="accent1">
              <a:alpha val="12000"/>
            </a:schemeClr>
          </a:solidFill>
          <a:ln/>
        </p:spPr>
      </p:sp>
      <p:pic>
        <p:nvPicPr>
          <p:cNvPr id="10" name="Indian card validation icon" descr="preencoded.png">    </p:cNvPr>
          <p:cNvPicPr>
            <a:picLocks noChangeAspect="1"/>
          </p:cNvPicPr>
          <p:nvPr/>
        </p:nvPicPr>
        <p:blipFill>
          <a:blip r:embed="rId1"/>
          <a:stretch>
            <a:fillRect/>
          </a:stretch>
        </p:blipFill>
        <p:spPr>
          <a:xfrm>
            <a:off x="7405543" y="1507663"/>
            <a:ext cx="294803" cy="294803"/>
          </a:xfrm>
          <a:prstGeom prst="rect">
            <a:avLst/>
          </a:prstGeom>
        </p:spPr>
      </p:pic>
      <p:sp>
        <p:nvSpPr>
          <p:cNvPr id="11" name="Indian card validation head"/>
          <p:cNvSpPr txBox="1"/>
          <p:nvPr/>
        </p:nvSpPr>
        <p:spPr>
          <a:xfrm>
            <a:off x="8046720" y="1353312"/>
            <a:ext cx="3596335" cy="347472"/>
          </a:xfrm>
          <a:prstGeom prst="rect">
            <a:avLst/>
          </a:prstGeom>
          <a:noFill/>
          <a:ln/>
        </p:spPr>
        <p:txBody>
          <a:bodyPr wrap="square" lIns="0" tIns="0" rIns="0" bIns="0" rtlCol="0" anchor="ctr"/>
          <a:lstStyle/>
          <a:p>
            <a:pPr indent="0" marL="0">
              <a:buNone/>
            </a:pPr>
            <a:r>
              <a:rPr lang="en-US" sz="1700" b="1" dirty="0">
                <a:solidFill>
                  <a:schemeClr val="tx1"/>
                </a:solidFill>
              </a:rPr>
              <a:t>Indian card validation</a:t>
            </a:r>
            <a:endParaRPr lang="en-US" sz="1700" dirty="0"/>
          </a:p>
        </p:txBody>
      </p:sp>
      <p:sp>
        <p:nvSpPr>
          <p:cNvPr id="12" name="Indian card validation body"/>
          <p:cNvSpPr txBox="1"/>
          <p:nvPr/>
        </p:nvSpPr>
        <p:spPr>
          <a:xfrm>
            <a:off x="8046720" y="1719072"/>
            <a:ext cx="3596335" cy="685800"/>
          </a:xfrm>
          <a:prstGeom prst="rect">
            <a:avLst/>
          </a:prstGeom>
          <a:noFill/>
          <a:ln/>
        </p:spPr>
        <p:txBody>
          <a:bodyPr wrap="square" lIns="0" tIns="0" rIns="0" bIns="0" rtlCol="0" anchor="t"/>
          <a:lstStyle/>
          <a:p>
            <a:pPr indent="0" marL="0">
              <a:buNone/>
            </a:pPr>
            <a:r>
              <a:rPr lang="en-US" sz="1400" dirty="0">
                <a:solidFill>
                  <a:schemeClr val="accent4"/>
                </a:solidFill>
              </a:rPr>
              <a:t>Luhn check, network detection for RuPay, Visa, Mastercard and Amex, masked number</a:t>
            </a:r>
            <a:endParaRPr lang="en-US" sz="1400" dirty="0"/>
          </a:p>
        </p:txBody>
      </p:sp>
      <p:sp>
        <p:nvSpPr>
          <p:cNvPr id="13" name="Agent-style flow tile"/>
          <p:cNvSpPr/>
          <p:nvPr/>
        </p:nvSpPr>
        <p:spPr>
          <a:xfrm>
            <a:off x="7269480" y="2560320"/>
            <a:ext cx="566928" cy="566928"/>
          </a:xfrm>
          <a:prstGeom prst="roundRect">
            <a:avLst>
              <a:gd name="adj" fmla="val 16129"/>
            </a:avLst>
          </a:prstGeom>
          <a:solidFill>
            <a:schemeClr val="accent1">
              <a:alpha val="12000"/>
            </a:schemeClr>
          </a:solidFill>
          <a:ln/>
        </p:spPr>
      </p:sp>
      <p:pic>
        <p:nvPicPr>
          <p:cNvPr id="14" name="Agent-style flow icon" descr="preencoded.png">    </p:cNvPr>
          <p:cNvPicPr>
            <a:picLocks noChangeAspect="1"/>
          </p:cNvPicPr>
          <p:nvPr/>
        </p:nvPicPr>
        <p:blipFill>
          <a:blip r:embed="rId2"/>
          <a:stretch>
            <a:fillRect/>
          </a:stretch>
        </p:blipFill>
        <p:spPr>
          <a:xfrm>
            <a:off x="7405543" y="2696383"/>
            <a:ext cx="294803" cy="294803"/>
          </a:xfrm>
          <a:prstGeom prst="rect">
            <a:avLst/>
          </a:prstGeom>
        </p:spPr>
      </p:pic>
      <p:sp>
        <p:nvSpPr>
          <p:cNvPr id="15" name="Agent-style flow head"/>
          <p:cNvSpPr txBox="1"/>
          <p:nvPr/>
        </p:nvSpPr>
        <p:spPr>
          <a:xfrm>
            <a:off x="8046720" y="2542032"/>
            <a:ext cx="3596335" cy="347472"/>
          </a:xfrm>
          <a:prstGeom prst="rect">
            <a:avLst/>
          </a:prstGeom>
          <a:noFill/>
          <a:ln/>
        </p:spPr>
        <p:txBody>
          <a:bodyPr wrap="square" lIns="0" tIns="0" rIns="0" bIns="0" rtlCol="0" anchor="ctr"/>
          <a:lstStyle/>
          <a:p>
            <a:pPr indent="0" marL="0">
              <a:buNone/>
            </a:pPr>
            <a:r>
              <a:rPr lang="en-US" sz="1700" b="1" dirty="0">
                <a:solidFill>
                  <a:schemeClr val="tx1"/>
                </a:solidFill>
              </a:rPr>
              <a:t>Agent-style flow</a:t>
            </a:r>
            <a:endParaRPr lang="en-US" sz="1700" dirty="0"/>
          </a:p>
        </p:txBody>
      </p:sp>
      <p:sp>
        <p:nvSpPr>
          <p:cNvPr id="16" name="Agent-style flow body"/>
          <p:cNvSpPr txBox="1"/>
          <p:nvPr/>
        </p:nvSpPr>
        <p:spPr>
          <a:xfrm>
            <a:off x="8046720" y="2907792"/>
            <a:ext cx="3596335" cy="685800"/>
          </a:xfrm>
          <a:prstGeom prst="rect">
            <a:avLst/>
          </a:prstGeom>
          <a:noFill/>
          <a:ln/>
        </p:spPr>
        <p:txBody>
          <a:bodyPr wrap="square" lIns="0" tIns="0" rIns="0" bIns="0" rtlCol="0" anchor="t"/>
          <a:lstStyle/>
          <a:p>
            <a:pPr indent="0" marL="0">
              <a:buNone/>
            </a:pPr>
            <a:r>
              <a:rPr lang="en-US" sz="1400" dirty="0">
                <a:solidFill>
                  <a:schemeClr val="accent4"/>
                </a:solidFill>
              </a:rPr>
              <a:t>Arrow-key prompts, spinners and step-by-step progress</a:t>
            </a:r>
            <a:endParaRPr lang="en-US" sz="1400" dirty="0"/>
          </a:p>
        </p:txBody>
      </p:sp>
      <p:sp>
        <p:nvSpPr>
          <p:cNvPr id="17" name="Explainable verdict tile"/>
          <p:cNvSpPr/>
          <p:nvPr/>
        </p:nvSpPr>
        <p:spPr>
          <a:xfrm>
            <a:off x="7269480" y="3749040"/>
            <a:ext cx="566928" cy="566928"/>
          </a:xfrm>
          <a:prstGeom prst="roundRect">
            <a:avLst>
              <a:gd name="adj" fmla="val 16129"/>
            </a:avLst>
          </a:prstGeom>
          <a:solidFill>
            <a:schemeClr val="accent1">
              <a:alpha val="12000"/>
            </a:schemeClr>
          </a:solidFill>
          <a:ln/>
        </p:spPr>
      </p:sp>
      <p:pic>
        <p:nvPicPr>
          <p:cNvPr id="18" name="Explainable verdict icon" descr="preencoded.png">    </p:cNvPr>
          <p:cNvPicPr>
            <a:picLocks noChangeAspect="1"/>
          </p:cNvPicPr>
          <p:nvPr/>
        </p:nvPicPr>
        <p:blipFill>
          <a:blip r:embed="rId3"/>
          <a:stretch>
            <a:fillRect/>
          </a:stretch>
        </p:blipFill>
        <p:spPr>
          <a:xfrm>
            <a:off x="7405543" y="3885103"/>
            <a:ext cx="294803" cy="294803"/>
          </a:xfrm>
          <a:prstGeom prst="rect">
            <a:avLst/>
          </a:prstGeom>
        </p:spPr>
      </p:pic>
      <p:sp>
        <p:nvSpPr>
          <p:cNvPr id="19" name="Explainable verdict head"/>
          <p:cNvSpPr txBox="1"/>
          <p:nvPr/>
        </p:nvSpPr>
        <p:spPr>
          <a:xfrm>
            <a:off x="8046720" y="3730752"/>
            <a:ext cx="3596335" cy="347472"/>
          </a:xfrm>
          <a:prstGeom prst="rect">
            <a:avLst/>
          </a:prstGeom>
          <a:noFill/>
          <a:ln/>
        </p:spPr>
        <p:txBody>
          <a:bodyPr wrap="square" lIns="0" tIns="0" rIns="0" bIns="0" rtlCol="0" anchor="ctr"/>
          <a:lstStyle/>
          <a:p>
            <a:pPr indent="0" marL="0">
              <a:buNone/>
            </a:pPr>
            <a:r>
              <a:rPr lang="en-US" sz="1700" b="1" dirty="0">
                <a:solidFill>
                  <a:schemeClr val="tx1"/>
                </a:solidFill>
              </a:rPr>
              <a:t>Explainable verdict</a:t>
            </a:r>
            <a:endParaRPr lang="en-US" sz="1700" dirty="0"/>
          </a:p>
        </p:txBody>
      </p:sp>
      <p:sp>
        <p:nvSpPr>
          <p:cNvPr id="20" name="Explainable verdict body"/>
          <p:cNvSpPr txBox="1"/>
          <p:nvPr/>
        </p:nvSpPr>
        <p:spPr>
          <a:xfrm>
            <a:off x="8046720" y="4096512"/>
            <a:ext cx="3596335" cy="685800"/>
          </a:xfrm>
          <a:prstGeom prst="rect">
            <a:avLst/>
          </a:prstGeom>
          <a:noFill/>
          <a:ln/>
        </p:spPr>
        <p:txBody>
          <a:bodyPr wrap="square" lIns="0" tIns="0" rIns="0" bIns="0" rtlCol="0" anchor="t"/>
          <a:lstStyle/>
          <a:p>
            <a:pPr indent="0" marL="0">
              <a:buNone/>
            </a:pPr>
            <a:r>
              <a:rPr lang="en-US" sz="1400" dirty="0">
                <a:solidFill>
                  <a:schemeClr val="accent4"/>
                </a:solidFill>
              </a:rPr>
              <a:t>Risk meter, LOW / MEDIUM / HIGH and top factors from SHAP values</a:t>
            </a:r>
            <a:endParaRPr lang="en-US" sz="1400" dirty="0"/>
          </a:p>
        </p:txBody>
      </p:sp>
      <p:sp>
        <p:nvSpPr>
          <p:cNvPr id="21" name="Three commands tile"/>
          <p:cNvSpPr/>
          <p:nvPr/>
        </p:nvSpPr>
        <p:spPr>
          <a:xfrm>
            <a:off x="7269480" y="4937760"/>
            <a:ext cx="566928" cy="566928"/>
          </a:xfrm>
          <a:prstGeom prst="roundRect">
            <a:avLst>
              <a:gd name="adj" fmla="val 16129"/>
            </a:avLst>
          </a:prstGeom>
          <a:solidFill>
            <a:schemeClr val="accent1">
              <a:alpha val="12000"/>
            </a:schemeClr>
          </a:solidFill>
          <a:ln/>
        </p:spPr>
      </p:sp>
      <p:pic>
        <p:nvPicPr>
          <p:cNvPr id="22" name="Three commands icon" descr="preencoded.png">    </p:cNvPr>
          <p:cNvPicPr>
            <a:picLocks noChangeAspect="1"/>
          </p:cNvPicPr>
          <p:nvPr/>
        </p:nvPicPr>
        <p:blipFill>
          <a:blip r:embed="rId4"/>
          <a:stretch>
            <a:fillRect/>
          </a:stretch>
        </p:blipFill>
        <p:spPr>
          <a:xfrm>
            <a:off x="7405543" y="5073823"/>
            <a:ext cx="294803" cy="294803"/>
          </a:xfrm>
          <a:prstGeom prst="rect">
            <a:avLst/>
          </a:prstGeom>
        </p:spPr>
      </p:pic>
      <p:sp>
        <p:nvSpPr>
          <p:cNvPr id="23" name="Three commands head"/>
          <p:cNvSpPr txBox="1"/>
          <p:nvPr/>
        </p:nvSpPr>
        <p:spPr>
          <a:xfrm>
            <a:off x="8046720" y="4919472"/>
            <a:ext cx="3596335" cy="347472"/>
          </a:xfrm>
          <a:prstGeom prst="rect">
            <a:avLst/>
          </a:prstGeom>
          <a:noFill/>
          <a:ln/>
        </p:spPr>
        <p:txBody>
          <a:bodyPr wrap="square" lIns="0" tIns="0" rIns="0" bIns="0" rtlCol="0" anchor="ctr"/>
          <a:lstStyle/>
          <a:p>
            <a:pPr indent="0" marL="0">
              <a:buNone/>
            </a:pPr>
            <a:r>
              <a:rPr lang="en-US" sz="1700" b="1" dirty="0">
                <a:solidFill>
                  <a:schemeClr val="tx1"/>
                </a:solidFill>
              </a:rPr>
              <a:t>Three commands</a:t>
            </a:r>
            <a:endParaRPr lang="en-US" sz="1700" dirty="0"/>
          </a:p>
        </p:txBody>
      </p:sp>
      <p:sp>
        <p:nvSpPr>
          <p:cNvPr id="24" name="Three commands body"/>
          <p:cNvSpPr txBox="1"/>
          <p:nvPr/>
        </p:nvSpPr>
        <p:spPr>
          <a:xfrm>
            <a:off x="8046720" y="5285232"/>
            <a:ext cx="3596335" cy="685800"/>
          </a:xfrm>
          <a:prstGeom prst="rect">
            <a:avLst/>
          </a:prstGeom>
          <a:noFill/>
          <a:ln/>
        </p:spPr>
        <p:txBody>
          <a:bodyPr wrap="square" lIns="0" tIns="0" rIns="0" bIns="0" rtlCol="0" anchor="t"/>
          <a:lstStyle/>
          <a:p>
            <a:pPr indent="0" marL="0">
              <a:buNone/>
            </a:pPr>
            <a:r>
              <a:rPr lang="en-US" sz="1400" dirty="0">
                <a:solidFill>
                  <a:schemeClr val="accent4"/>
                </a:solidFill>
              </a:rPr>
              <a:t>predict to check a payment, metrics for scores, demo for samples</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Conclusion and Future Scope</a:t>
            </a:r>
            <a:endParaRPr lang="en-US" sz="3200" dirty="0"/>
          </a:p>
        </p:txBody>
      </p:sp>
      <p:sp>
        <p:nvSpPr>
          <p:cNvPr id="3" name="Key takeaways card"/>
          <p:cNvSpPr/>
          <p:nvPr/>
        </p:nvSpPr>
        <p:spPr>
          <a:xfrm>
            <a:off x="548640" y="1325880"/>
            <a:ext cx="5364328" cy="3703320"/>
          </a:xfrm>
          <a:prstGeom prst="roundRect">
            <a:avLst>
              <a:gd name="adj" fmla="val 2963"/>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4" name="Key takeaways tile"/>
          <p:cNvSpPr/>
          <p:nvPr/>
        </p:nvSpPr>
        <p:spPr>
          <a:xfrm>
            <a:off x="868680" y="1645920"/>
            <a:ext cx="594360" cy="594360"/>
          </a:xfrm>
          <a:prstGeom prst="roundRect">
            <a:avLst>
              <a:gd name="adj" fmla="val 15385"/>
            </a:avLst>
          </a:prstGeom>
          <a:solidFill>
            <a:schemeClr val="accent1">
              <a:alpha val="12000"/>
            </a:schemeClr>
          </a:solidFill>
          <a:ln/>
        </p:spPr>
      </p:sp>
      <p:pic>
        <p:nvPicPr>
          <p:cNvPr id="5" name="Key takeaways icon" descr="preencoded.png">    </p:cNvPr>
          <p:cNvPicPr>
            <a:picLocks noChangeAspect="1"/>
          </p:cNvPicPr>
          <p:nvPr/>
        </p:nvPicPr>
        <p:blipFill>
          <a:blip r:embed="rId1"/>
          <a:stretch>
            <a:fillRect/>
          </a:stretch>
        </p:blipFill>
        <p:spPr>
          <a:xfrm>
            <a:off x="1011326" y="1788566"/>
            <a:ext cx="309067" cy="309067"/>
          </a:xfrm>
          <a:prstGeom prst="rect">
            <a:avLst/>
          </a:prstGeom>
        </p:spPr>
      </p:pic>
      <p:sp>
        <p:nvSpPr>
          <p:cNvPr id="6" name="Key takeaways head"/>
          <p:cNvSpPr txBox="1"/>
          <p:nvPr/>
        </p:nvSpPr>
        <p:spPr>
          <a:xfrm>
            <a:off x="1645920" y="1645920"/>
            <a:ext cx="3992728" cy="594360"/>
          </a:xfrm>
          <a:prstGeom prst="rect">
            <a:avLst/>
          </a:prstGeom>
          <a:noFill/>
          <a:ln/>
        </p:spPr>
        <p:txBody>
          <a:bodyPr wrap="square" lIns="0" tIns="0" rIns="0" bIns="0" rtlCol="0" anchor="ctr"/>
          <a:lstStyle/>
          <a:p>
            <a:pPr indent="0" marL="0">
              <a:buNone/>
            </a:pPr>
            <a:r>
              <a:rPr lang="en-US" sz="2200" b="1" dirty="0">
                <a:solidFill>
                  <a:schemeClr val="tx1"/>
                </a:solidFill>
              </a:rPr>
              <a:t>Key takeaways</a:t>
            </a:r>
            <a:endParaRPr lang="en-US" sz="2200" dirty="0"/>
          </a:p>
        </p:txBody>
      </p:sp>
      <p:sp>
        <p:nvSpPr>
          <p:cNvPr id="7" name="Key takeaways list"/>
          <p:cNvSpPr txBox="1"/>
          <p:nvPr/>
        </p:nvSpPr>
        <p:spPr>
          <a:xfrm>
            <a:off x="868680" y="2514600"/>
            <a:ext cx="4724248" cy="22860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800" dirty="0">
                <a:solidFill>
                  <a:schemeClr val="accent4"/>
                </a:solidFill>
              </a:rPr>
              <a:t>XGBoost caught 80.5% of fraud with 86.2% precision on unseen data</a:t>
            </a:r>
            <a:endParaRPr lang="en-US" sz="1800" dirty="0"/>
          </a:p>
          <a:p>
            <a:pPr marL="342900" indent="-342900">
              <a:spcAft>
                <a:spcPts val="1200"/>
              </a:spcAft>
              <a:buSzPct val="100000"/>
              <a:buFont typeface="+mj-lt"/>
              <a:buAutoNum type="arabicPeriod" startAt="1"/>
            </a:pPr>
            <a:r>
              <a:rPr lang="en-US" sz="1800" dirty="0">
                <a:solidFill>
                  <a:schemeClr val="accent4"/>
                </a:solidFill>
              </a:rPr>
              <a:t>Threshold tuning cut false alarms by 88%</a:t>
            </a:r>
            <a:endParaRPr lang="en-US" sz="1800" dirty="0"/>
          </a:p>
          <a:p>
            <a:pPr marL="342900" indent="-342900">
              <a:spcAft>
                <a:spcPts val="1200"/>
              </a:spcAft>
              <a:buSzPct val="100000"/>
              <a:buFont typeface="+mj-lt"/>
              <a:buAutoNum type="arabicPeriod" startAt="1"/>
            </a:pPr>
            <a:r>
              <a:rPr lang="en-US" sz="1800" dirty="0">
                <a:solidFill>
                  <a:schemeClr val="accent4"/>
                </a:solidFill>
              </a:rPr>
              <a:t>Night time, amount and merchant category are the strongest signals</a:t>
            </a:r>
            <a:endParaRPr lang="en-US" sz="1800" dirty="0"/>
          </a:p>
        </p:txBody>
      </p:sp>
      <p:sp>
        <p:nvSpPr>
          <p:cNvPr id="8" name="Future scope card"/>
          <p:cNvSpPr/>
          <p:nvPr/>
        </p:nvSpPr>
        <p:spPr>
          <a:xfrm>
            <a:off x="6278728" y="1325880"/>
            <a:ext cx="5364328" cy="3703320"/>
          </a:xfrm>
          <a:prstGeom prst="roundRect">
            <a:avLst>
              <a:gd name="adj" fmla="val 2963"/>
            </a:avLst>
          </a:prstGeom>
          <a:solidFill>
            <a:schemeClr val="bg1"/>
          </a:solidFill>
          <a:ln w="9525">
            <a:solidFill>
              <a:srgbClr val="E9ECEF"/>
            </a:solidFill>
            <a:prstDash val="solid"/>
          </a:ln>
          <a:effectLst>
            <a:outerShdw sx="100000" sy="100000" kx="0" ky="0" algn="bl" rotWithShape="0" blurRad="127000" dist="25400" dir="5400000">
              <a:srgbClr val="000000">
                <a:alpha val="10000"/>
              </a:srgbClr>
            </a:outerShdw>
          </a:effectLst>
        </p:spPr>
      </p:sp>
      <p:sp>
        <p:nvSpPr>
          <p:cNvPr id="9" name="Future scope tile"/>
          <p:cNvSpPr/>
          <p:nvPr/>
        </p:nvSpPr>
        <p:spPr>
          <a:xfrm>
            <a:off x="6598768" y="1645920"/>
            <a:ext cx="594360" cy="594360"/>
          </a:xfrm>
          <a:prstGeom prst="roundRect">
            <a:avLst>
              <a:gd name="adj" fmla="val 15385"/>
            </a:avLst>
          </a:prstGeom>
          <a:solidFill>
            <a:schemeClr val="accent1">
              <a:alpha val="12000"/>
            </a:schemeClr>
          </a:solidFill>
          <a:ln/>
        </p:spPr>
      </p:sp>
      <p:pic>
        <p:nvPicPr>
          <p:cNvPr id="10" name="Future scope icon" descr="preencoded.png">    </p:cNvPr>
          <p:cNvPicPr>
            <a:picLocks noChangeAspect="1"/>
          </p:cNvPicPr>
          <p:nvPr/>
        </p:nvPicPr>
        <p:blipFill>
          <a:blip r:embed="rId2"/>
          <a:stretch>
            <a:fillRect/>
          </a:stretch>
        </p:blipFill>
        <p:spPr>
          <a:xfrm>
            <a:off x="6741414" y="1788566"/>
            <a:ext cx="309067" cy="309067"/>
          </a:xfrm>
          <a:prstGeom prst="rect">
            <a:avLst/>
          </a:prstGeom>
        </p:spPr>
      </p:pic>
      <p:sp>
        <p:nvSpPr>
          <p:cNvPr id="11" name="Future scope head"/>
          <p:cNvSpPr txBox="1"/>
          <p:nvPr/>
        </p:nvSpPr>
        <p:spPr>
          <a:xfrm>
            <a:off x="7376008" y="1645920"/>
            <a:ext cx="3992728" cy="594360"/>
          </a:xfrm>
          <a:prstGeom prst="rect">
            <a:avLst/>
          </a:prstGeom>
          <a:noFill/>
          <a:ln/>
        </p:spPr>
        <p:txBody>
          <a:bodyPr wrap="square" lIns="0" tIns="0" rIns="0" bIns="0" rtlCol="0" anchor="ctr"/>
          <a:lstStyle/>
          <a:p>
            <a:pPr indent="0" marL="0">
              <a:buNone/>
            </a:pPr>
            <a:r>
              <a:rPr lang="en-US" sz="2200" b="1" dirty="0">
                <a:solidFill>
                  <a:schemeClr val="tx1"/>
                </a:solidFill>
              </a:rPr>
              <a:t>Future scope</a:t>
            </a:r>
            <a:endParaRPr lang="en-US" sz="2200" dirty="0"/>
          </a:p>
        </p:txBody>
      </p:sp>
      <p:sp>
        <p:nvSpPr>
          <p:cNvPr id="12" name="Future scope list"/>
          <p:cNvSpPr txBox="1"/>
          <p:nvPr/>
        </p:nvSpPr>
        <p:spPr>
          <a:xfrm>
            <a:off x="6598768" y="2514600"/>
            <a:ext cx="4724248" cy="22860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800" dirty="0">
                <a:solidFill>
                  <a:schemeClr val="accent4"/>
                </a:solidFill>
              </a:rPr>
              <a:t>Train on real Indian bank data, including RuPay and UPI-linked cards</a:t>
            </a:r>
            <a:endParaRPr lang="en-US" sz="1800" dirty="0"/>
          </a:p>
          <a:p>
            <a:pPr marL="342900" indent="-342900">
              <a:spcAft>
                <a:spcPts val="1200"/>
              </a:spcAft>
              <a:buSzPct val="100000"/>
              <a:buFont typeface="+mj-lt"/>
              <a:buAutoNum type="arabicPeriod" startAt="1"/>
            </a:pPr>
            <a:r>
              <a:rPr lang="en-US" sz="1800" dirty="0">
                <a:solidFill>
                  <a:schemeClr val="accent4"/>
                </a:solidFill>
              </a:rPr>
              <a:t>Add location and device signals for each payment</a:t>
            </a:r>
            <a:endParaRPr lang="en-US" sz="1800" dirty="0"/>
          </a:p>
          <a:p>
            <a:pPr marL="342900" indent="-342900">
              <a:spcAft>
                <a:spcPts val="1200"/>
              </a:spcAft>
              <a:buSzPct val="100000"/>
              <a:buFont typeface="+mj-lt"/>
              <a:buAutoNum type="arabicPeriod" startAt="1"/>
            </a:pPr>
            <a:r>
              <a:rPr lang="en-US" sz="1800" dirty="0">
                <a:solidFill>
                  <a:schemeClr val="accent4"/>
                </a:solidFill>
              </a:rPr>
              <a:t>Serve the model as a REST API for live payment checks</a:t>
            </a:r>
            <a:endParaRPr lang="en-US" sz="1800" dirty="0"/>
          </a:p>
        </p:txBody>
      </p:sp>
      <p:sp>
        <p:nvSpPr>
          <p:cNvPr id="13" name="Thank you"/>
          <p:cNvSpPr txBox="1"/>
          <p:nvPr/>
        </p:nvSpPr>
        <p:spPr>
          <a:xfrm>
            <a:off x="548640" y="5349240"/>
            <a:ext cx="11094415" cy="594360"/>
          </a:xfrm>
          <a:prstGeom prst="rect">
            <a:avLst/>
          </a:prstGeom>
          <a:noFill/>
          <a:ln/>
        </p:spPr>
        <p:txBody>
          <a:bodyPr wrap="square" lIns="0" tIns="0" rIns="0" bIns="0" rtlCol="0" anchor="ctr"/>
          <a:lstStyle/>
          <a:p>
            <a:pPr algn="ctr" indent="0" marL="0">
              <a:buNone/>
            </a:pPr>
            <a:r>
              <a:rPr lang="en-US" sz="2400" b="1" dirty="0">
                <a:solidFill>
                  <a:schemeClr val="accent1"/>
                </a:solidFill>
              </a:rPr>
              <a:t>Thank you</a:t>
            </a:r>
            <a:pPr algn="ctr" indent="0" marL="0">
              <a:buNone/>
            </a:pPr>
            <a:r>
              <a:rPr lang="en-US" sz="2400" dirty="0">
                <a:solidFill>
                  <a:schemeClr val="accent4"/>
                </a:solidFill>
              </a:rPr>
              <a:t>   ·   Questions?</a:t>
            </a:r>
            <a:endParaRPr lang="en-US" sz="2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Fraud Detection Corporate">
  <a:themeElements>
    <a:clrScheme name="Fraud Detection Corporate">
      <a:dk1>
        <a:srgbClr val="202124"/>
      </a:dk1>
      <a:lt1>
        <a:srgbClr val="FFFFFF"/>
      </a:lt1>
      <a:dk2>
        <a:srgbClr val="164B78"/>
      </a:dk2>
      <a:lt2>
        <a:srgbClr val="F4F6F8"/>
      </a:lt2>
      <a:accent1>
        <a:srgbClr val="0878D1"/>
      </a:accent1>
      <a:accent2>
        <a:srgbClr val="20BFE0"/>
      </a:accent2>
      <a:accent3>
        <a:srgbClr val="164B78"/>
      </a:accent3>
      <a:accent4>
        <a:srgbClr val="5F6368"/>
      </a:accent4>
      <a:accent5>
        <a:srgbClr val="E9ECEF"/>
      </a:accent5>
      <a:accent6>
        <a:srgbClr val="9AA0A6"/>
      </a:accent6>
      <a:hlink>
        <a:srgbClr val="0878D1"/>
      </a:hlink>
      <a:folHlink>
        <a:srgbClr val="164B78"/>
      </a:folHlink>
    </a:clrScheme>
    <a:fontScheme name="Fraud Detection Corporat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dc:title>
  <dc:subject>PptxGenJS Presentation</dc:subject>
  <dc:creator>Viral Mistry</dc:creator>
  <cp:lastModifiedBy>Viral Mistry</cp:lastModifiedBy>
  <cp:revision>1</cp:revision>
  <dcterms:created xsi:type="dcterms:W3CDTF">2026-10-26T17:05:09Z</dcterms:created>
  <dcterms:modified xsi:type="dcterms:W3CDTF">2026-10-26T17:05:09Z</dcterms:modified>
</cp:coreProperties>
</file>